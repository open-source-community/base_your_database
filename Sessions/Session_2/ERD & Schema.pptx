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703" r:id="rId3"/>
    <p:sldMasterId id="2147483706" r:id="rId4"/>
  </p:sldMasterIdLst>
  <p:notesMasterIdLst>
    <p:notesMasterId r:id="rId7"/>
  </p:notesMasterIdLst>
  <p:sldIdLst>
    <p:sldId id="313" r:id="rId5"/>
    <p:sldId id="272" r:id="rId6"/>
    <p:sldId id="256" r:id="rId8"/>
    <p:sldId id="262" r:id="rId9"/>
    <p:sldId id="263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3" r:id="rId20"/>
    <p:sldId id="284" r:id="rId21"/>
    <p:sldId id="311" r:id="rId22"/>
    <p:sldId id="282" r:id="rId23"/>
    <p:sldId id="270" r:id="rId24"/>
    <p:sldId id="309" r:id="rId25"/>
    <p:sldId id="285" r:id="rId26"/>
    <p:sldId id="286" r:id="rId27"/>
    <p:sldId id="288" r:id="rId28"/>
    <p:sldId id="289" r:id="rId29"/>
    <p:sldId id="290" r:id="rId30"/>
    <p:sldId id="291" r:id="rId31"/>
    <p:sldId id="293" r:id="rId32"/>
    <p:sldId id="294" r:id="rId33"/>
    <p:sldId id="292" r:id="rId34"/>
    <p:sldId id="295" r:id="rId35"/>
    <p:sldId id="296" r:id="rId36"/>
    <p:sldId id="297" r:id="rId37"/>
    <p:sldId id="298" r:id="rId38"/>
    <p:sldId id="299" r:id="rId39"/>
    <p:sldId id="300" r:id="rId40"/>
    <p:sldId id="302" r:id="rId41"/>
    <p:sldId id="303" r:id="rId42"/>
    <p:sldId id="304" r:id="rId43"/>
    <p:sldId id="301" r:id="rId44"/>
    <p:sldId id="267" r:id="rId45"/>
  </p:sldIdLst>
  <p:sldSz cx="9144000" cy="5143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>
                <a:highlight>
                  <a:srgbClr val="FFFF00"/>
                </a:highlight>
              </a:rPr>
              <a:t>if you make search about them , please share your info about them in general byd chat and wait your gift !</a:t>
            </a:r>
            <a:endParaRPr lang="en-US">
              <a:highlight>
                <a:srgbClr val="FFFF00"/>
              </a:highlight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Create table for each weak entity.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Add foreign key  that correspond to the owner entity type. 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Primary key composed of: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  <a:p>
            <a:pPr lvl="2" eaLnBrk="1" hangingPunct="1"/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Partial identifier of weak entity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  <a:p>
            <a:pPr lvl="2" eaLnBrk="1" hangingPunct="1"/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Primary key of identifying relation (strong entity)</a:t>
            </a:r>
            <a:endParaRPr lang="en-US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4" Type="http://schemas.openxmlformats.org/officeDocument/2006/relationships/hyperlink" Target="https://www.freepik.com/" TargetMode="External"/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 hasCustomPrompt="1"/>
          </p:nvPr>
        </p:nvSpPr>
        <p:spPr>
          <a:xfrm>
            <a:off x="1040040" y="1324440"/>
            <a:ext cx="70639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6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6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2" name="Google Shape;11;p2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3" name="Google Shape;12;p2"/>
          <p:cNvCxnSpPr/>
          <p:nvPr/>
        </p:nvCxnSpPr>
        <p:spPr>
          <a:xfrm rot="10800000" flipV="1">
            <a:off x="-257760" y="-72720"/>
            <a:ext cx="3047400" cy="134640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4" name="Google Shape;13;p2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5" name="Google Shape;14;p2"/>
          <p:cNvCxnSpPr/>
          <p:nvPr/>
        </p:nvCxnSpPr>
        <p:spPr>
          <a:xfrm rot="10800000" flipV="1">
            <a:off x="6467040" y="3935160"/>
            <a:ext cx="3047760" cy="1346760"/>
          </a:xfrm>
          <a:prstGeom prst="curvedConnector3">
            <a:avLst>
              <a:gd name="adj1" fmla="val 49994"/>
            </a:avLst>
          </a:prstGeom>
          <a:ln w="28575">
            <a:solidFill>
              <a:srgbClr val="3F3533"/>
            </a:solidFill>
            <a:round/>
          </a:ln>
        </p:spPr>
      </p:cxnSp>
      <p:sp>
        <p:nvSpPr>
          <p:cNvPr id="6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1345320"/>
            <a:ext cx="7717320" cy="1644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120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12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7" name="Google Shape;68;p11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8" name="Google Shape;69;p11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9" name="Google Shape;70;p11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0" name="Google Shape;71;p11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444960"/>
            <a:ext cx="3583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title" hasCustomPrompt="1"/>
          </p:nvPr>
        </p:nvSpPr>
        <p:spPr>
          <a:xfrm>
            <a:off x="2378520" y="1303560"/>
            <a:ext cx="103896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38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3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title" hasCustomPrompt="1"/>
          </p:nvPr>
        </p:nvSpPr>
        <p:spPr>
          <a:xfrm>
            <a:off x="5724360" y="1303560"/>
            <a:ext cx="103896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38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3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title" hasCustomPrompt="1"/>
          </p:nvPr>
        </p:nvSpPr>
        <p:spPr>
          <a:xfrm>
            <a:off x="2378880" y="3082680"/>
            <a:ext cx="103896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38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3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title" hasCustomPrompt="1"/>
          </p:nvPr>
        </p:nvSpPr>
        <p:spPr>
          <a:xfrm>
            <a:off x="5724360" y="3082680"/>
            <a:ext cx="103896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38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3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16" name="Google Shape;87;p13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7" name="Google Shape;88;p13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 hasCustomPrompt="1"/>
          </p:nvPr>
        </p:nvSpPr>
        <p:spPr>
          <a:xfrm>
            <a:off x="720000" y="1677240"/>
            <a:ext cx="2336040" cy="404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title" hasCustomPrompt="1"/>
          </p:nvPr>
        </p:nvSpPr>
        <p:spPr>
          <a:xfrm>
            <a:off x="1482480" y="1095480"/>
            <a:ext cx="810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3800" b="0" u="none" strike="noStrike">
                <a:solidFill>
                  <a:schemeClr val="dk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3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title" hasCustomPrompt="1"/>
          </p:nvPr>
        </p:nvSpPr>
        <p:spPr>
          <a:xfrm>
            <a:off x="3403800" y="1677240"/>
            <a:ext cx="2336040" cy="404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title" hasCustomPrompt="1"/>
          </p:nvPr>
        </p:nvSpPr>
        <p:spPr>
          <a:xfrm>
            <a:off x="4166280" y="1095480"/>
            <a:ext cx="810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3800" b="0" u="none" strike="noStrike">
                <a:solidFill>
                  <a:schemeClr val="dk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3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title" hasCustomPrompt="1"/>
          </p:nvPr>
        </p:nvSpPr>
        <p:spPr>
          <a:xfrm>
            <a:off x="6087600" y="1677240"/>
            <a:ext cx="2336040" cy="404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title" hasCustomPrompt="1"/>
          </p:nvPr>
        </p:nvSpPr>
        <p:spPr>
          <a:xfrm>
            <a:off x="6850080" y="1095480"/>
            <a:ext cx="810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3800" b="0" u="none" strike="noStrike">
                <a:solidFill>
                  <a:schemeClr val="dk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3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" name="PlaceHolder 7"/>
          <p:cNvSpPr>
            <a:spLocks noGrp="1"/>
          </p:cNvSpPr>
          <p:nvPr>
            <p:ph type="title" hasCustomPrompt="1"/>
          </p:nvPr>
        </p:nvSpPr>
        <p:spPr>
          <a:xfrm>
            <a:off x="720000" y="3313440"/>
            <a:ext cx="2336040" cy="404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" name="PlaceHolder 8"/>
          <p:cNvSpPr>
            <a:spLocks noGrp="1"/>
          </p:cNvSpPr>
          <p:nvPr>
            <p:ph type="title" hasCustomPrompt="1"/>
          </p:nvPr>
        </p:nvSpPr>
        <p:spPr>
          <a:xfrm>
            <a:off x="1482480" y="2714040"/>
            <a:ext cx="810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3800" b="0" u="none" strike="noStrike">
                <a:solidFill>
                  <a:schemeClr val="dk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3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" name="PlaceHolder 9"/>
          <p:cNvSpPr>
            <a:spLocks noGrp="1"/>
          </p:cNvSpPr>
          <p:nvPr>
            <p:ph type="title" hasCustomPrompt="1"/>
          </p:nvPr>
        </p:nvSpPr>
        <p:spPr>
          <a:xfrm>
            <a:off x="3403800" y="3313440"/>
            <a:ext cx="2336040" cy="404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" name="PlaceHolder 10"/>
          <p:cNvSpPr>
            <a:spLocks noGrp="1"/>
          </p:cNvSpPr>
          <p:nvPr>
            <p:ph type="title" hasCustomPrompt="1"/>
          </p:nvPr>
        </p:nvSpPr>
        <p:spPr>
          <a:xfrm>
            <a:off x="4166280" y="2714040"/>
            <a:ext cx="810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3800" b="0" u="none" strike="noStrike">
                <a:solidFill>
                  <a:schemeClr val="dk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3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" name="PlaceHolder 11"/>
          <p:cNvSpPr>
            <a:spLocks noGrp="1"/>
          </p:cNvSpPr>
          <p:nvPr>
            <p:ph type="title" hasCustomPrompt="1"/>
          </p:nvPr>
        </p:nvSpPr>
        <p:spPr>
          <a:xfrm>
            <a:off x="6087600" y="3313440"/>
            <a:ext cx="2336040" cy="404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" name="PlaceHolder 12"/>
          <p:cNvSpPr>
            <a:spLocks noGrp="1"/>
          </p:cNvSpPr>
          <p:nvPr>
            <p:ph type="title" hasCustomPrompt="1"/>
          </p:nvPr>
        </p:nvSpPr>
        <p:spPr>
          <a:xfrm>
            <a:off x="6850080" y="2714040"/>
            <a:ext cx="810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3800" b="0" u="none" strike="noStrike">
                <a:solidFill>
                  <a:schemeClr val="dk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3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" name="PlaceHolder 13"/>
          <p:cNvSpPr>
            <a:spLocks noGrp="1"/>
          </p:cNvSpPr>
          <p:nvPr>
            <p:ph type="title" hasCustomPrompt="1"/>
          </p:nvPr>
        </p:nvSpPr>
        <p:spPr>
          <a:xfrm>
            <a:off x="2332440" y="444960"/>
            <a:ext cx="4479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31" name="Google Shape;109;p14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32" name="Google Shape;110;p14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33" name="Google Shape;111;p14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34" name="Google Shape;112;p14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 hasCustomPrompt="1"/>
          </p:nvPr>
        </p:nvSpPr>
        <p:spPr>
          <a:xfrm>
            <a:off x="2410560" y="2808360"/>
            <a:ext cx="4322520" cy="497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36" name="Google Shape;116;p15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37" name="Google Shape;117;p15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 hasCustomPrompt="1"/>
          </p:nvPr>
        </p:nvSpPr>
        <p:spPr>
          <a:xfrm>
            <a:off x="699840" y="2821320"/>
            <a:ext cx="4322520" cy="497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39" name="Google Shape;121;p16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40" name="Google Shape;122;p16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41" name="Google Shape;123;p16"/>
          <p:cNvCxnSpPr/>
          <p:nvPr/>
        </p:nvCxnSpPr>
        <p:spPr>
          <a:xfrm rot="10800000" flipV="1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42" name="Google Shape;124;p16"/>
          <p:cNvCxnSpPr/>
          <p:nvPr/>
        </p:nvCxnSpPr>
        <p:spPr>
          <a:xfrm rot="10800000" flipV="1">
            <a:off x="-237240" y="-70920"/>
            <a:ext cx="1926720" cy="1161000"/>
          </a:xfrm>
          <a:prstGeom prst="curvedConnector3">
            <a:avLst>
              <a:gd name="adj1" fmla="val 49990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 hasCustomPrompt="1"/>
          </p:nvPr>
        </p:nvSpPr>
        <p:spPr>
          <a:xfrm>
            <a:off x="1731960" y="444960"/>
            <a:ext cx="5679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44" name="Google Shape;128;p17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45" name="Google Shape;129;p17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46" name="Google Shape;130;p17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47" name="Google Shape;131;p17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sp>
        <p:nvSpPr>
          <p:cNvPr id="48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444960"/>
            <a:ext cx="5679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50" name="Google Shape;135;p18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51" name="Google Shape;136;p18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52" name="Google Shape;137;p18"/>
          <p:cNvCxnSpPr/>
          <p:nvPr/>
        </p:nvCxnSpPr>
        <p:spPr>
          <a:xfrm rot="10800000" flipV="1">
            <a:off x="5924880" y="2796840"/>
            <a:ext cx="3378240" cy="2467440"/>
          </a:xfrm>
          <a:prstGeom prst="curvedConnector3">
            <a:avLst>
              <a:gd name="adj1" fmla="val 49994"/>
            </a:avLst>
          </a:prstGeom>
          <a:ln w="28575">
            <a:solidFill>
              <a:srgbClr val="3F3533"/>
            </a:solidFill>
            <a:round/>
          </a:ln>
        </p:spPr>
      </p:cxnSp>
      <p:sp>
        <p:nvSpPr>
          <p:cNvPr id="53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 hasCustomPrompt="1"/>
          </p:nvPr>
        </p:nvSpPr>
        <p:spPr>
          <a:xfrm>
            <a:off x="845640" y="1482840"/>
            <a:ext cx="7452720" cy="129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7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7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55" name="Google Shape;141;p19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56" name="Google Shape;142;p19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sp>
        <p:nvSpPr>
          <p:cNvPr id="57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 hasCustomPrompt="1"/>
          </p:nvPr>
        </p:nvSpPr>
        <p:spPr>
          <a:xfrm>
            <a:off x="3742920" y="1549800"/>
            <a:ext cx="4544640" cy="129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9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9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59" name="Google Shape;146;p20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60" name="Google Shape;147;p20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61" name="Google Shape;148;p20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62" name="Google Shape;149;p20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63" name="Google Shape;150;p20"/>
          <p:cNvCxnSpPr/>
          <p:nvPr/>
        </p:nvCxnSpPr>
        <p:spPr>
          <a:xfrm rot="10800000" flipV="1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64" name="Google Shape;151;p20"/>
          <p:cNvCxnSpPr/>
          <p:nvPr/>
        </p:nvCxnSpPr>
        <p:spPr>
          <a:xfrm rot="10800000" flipV="1">
            <a:off x="-237240" y="-70920"/>
            <a:ext cx="1926720" cy="1161000"/>
          </a:xfrm>
          <a:prstGeom prst="curvedConnector3">
            <a:avLst>
              <a:gd name="adj1" fmla="val 49990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 hasCustomPrompt="1"/>
          </p:nvPr>
        </p:nvSpPr>
        <p:spPr>
          <a:xfrm>
            <a:off x="867240" y="2366280"/>
            <a:ext cx="7409160" cy="817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title" hasCustomPrompt="1"/>
          </p:nvPr>
        </p:nvSpPr>
        <p:spPr>
          <a:xfrm>
            <a:off x="3746520" y="1339200"/>
            <a:ext cx="1650600" cy="97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70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7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67" name="Google Shape;19;p3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68" name="Google Shape;20;p3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69" name="Google Shape;21;p3"/>
          <p:cNvCxnSpPr/>
          <p:nvPr/>
        </p:nvCxnSpPr>
        <p:spPr>
          <a:xfrm rot="10800000" flipV="1">
            <a:off x="7948440" y="3979080"/>
            <a:ext cx="1378800" cy="1236960"/>
          </a:xfrm>
          <a:prstGeom prst="curvedConnector3">
            <a:avLst>
              <a:gd name="adj1" fmla="val 49986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70" name="Google Shape;22;p3"/>
          <p:cNvCxnSpPr/>
          <p:nvPr/>
        </p:nvCxnSpPr>
        <p:spPr>
          <a:xfrm rot="10800000" flipV="1">
            <a:off x="-112680" y="-88560"/>
            <a:ext cx="1418760" cy="106452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sp>
        <p:nvSpPr>
          <p:cNvPr id="71" name="PlaceHolder 3"/>
          <p:cNvSpPr>
            <a:spLocks noGrp="1"/>
          </p:cNvSpPr>
          <p:nvPr>
            <p:ph type="body" hasCustomPrompt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 hasCustomPrompt="1"/>
          </p:nvPr>
        </p:nvSpPr>
        <p:spPr>
          <a:xfrm>
            <a:off x="427320" y="2511720"/>
            <a:ext cx="4965120" cy="111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title" hasCustomPrompt="1"/>
          </p:nvPr>
        </p:nvSpPr>
        <p:spPr>
          <a:xfrm>
            <a:off x="3741840" y="1484640"/>
            <a:ext cx="1650600" cy="97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lang="fr-FR" sz="70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7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74" name="Google Shape;156;p21"/>
          <p:cNvCxnSpPr/>
          <p:nvPr/>
        </p:nvCxnSpPr>
        <p:spPr>
          <a:xfrm flipH="1">
            <a:off x="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75" name="Google Shape;157;p21"/>
          <p:cNvCxnSpPr/>
          <p:nvPr/>
        </p:nvCxnSpPr>
        <p:spPr>
          <a:xfrm flipH="1">
            <a:off x="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76" name="Google Shape;158;p21"/>
          <p:cNvCxnSpPr/>
          <p:nvPr/>
        </p:nvCxnSpPr>
        <p:spPr>
          <a:xfrm>
            <a:off x="-112680" y="3979440"/>
            <a:ext cx="1378440" cy="12369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77" name="Google Shape;159;p21"/>
          <p:cNvCxnSpPr/>
          <p:nvPr/>
        </p:nvCxnSpPr>
        <p:spPr>
          <a:xfrm>
            <a:off x="7908480" y="-88560"/>
            <a:ext cx="1419120" cy="1064520"/>
          </a:xfrm>
          <a:prstGeom prst="curvedConnector3">
            <a:avLst>
              <a:gd name="adj1" fmla="val 50012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44496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79" name="Google Shape;162;p22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80" name="Google Shape;163;p22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81" name="Google Shape;164;p22"/>
          <p:cNvCxnSpPr/>
          <p:nvPr/>
        </p:nvCxnSpPr>
        <p:spPr>
          <a:xfrm>
            <a:off x="7207200" y="-153000"/>
            <a:ext cx="2120760" cy="127368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oogle Shape;166;p23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83" name="Google Shape;167;p23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84" name="Google Shape;168;p23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85" name="Google Shape;169;p23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86" name="Google Shape;170;p23"/>
          <p:cNvCxnSpPr/>
          <p:nvPr/>
        </p:nvCxnSpPr>
        <p:spPr>
          <a:xfrm rot="10800000" flipV="1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87" name="Google Shape;171;p23"/>
          <p:cNvCxnSpPr/>
          <p:nvPr/>
        </p:nvCxnSpPr>
        <p:spPr>
          <a:xfrm rot="10800000" flipV="1">
            <a:off x="-237240" y="-70920"/>
            <a:ext cx="1926720" cy="1161000"/>
          </a:xfrm>
          <a:prstGeom prst="curvedConnector3">
            <a:avLst>
              <a:gd name="adj1" fmla="val 49990"/>
            </a:avLst>
          </a:prstGeom>
          <a:ln w="28575">
            <a:solidFill>
              <a:srgbClr val="3F3533"/>
            </a:solidFill>
            <a:round/>
          </a:ln>
        </p:spPr>
      </p:cxnSp>
      <p:sp>
        <p:nvSpPr>
          <p:cNvPr id="88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44496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 hasCustomPrompt="1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90" name="Google Shape;183;p24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91" name="Google Shape;184;p24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186;p25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93" name="Google Shape;187;p25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94" name="Google Shape;188;p25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95" name="Google Shape;189;p25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sp>
        <p:nvSpPr>
          <p:cNvPr id="96" name="PlaceHolder 1"/>
          <p:cNvSpPr>
            <a:spLocks noGrp="1"/>
          </p:cNvSpPr>
          <p:nvPr>
            <p:ph type="body" hasCustomPrompt="1"/>
          </p:nvPr>
        </p:nvSpPr>
        <p:spPr>
          <a:xfrm>
            <a:off x="5547960" y="3007800"/>
            <a:ext cx="2882520" cy="1595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3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3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3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3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3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3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3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1345320"/>
            <a:ext cx="6120000" cy="1644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fr-FR" sz="120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12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98" name="Google Shape;194;p26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99" name="Google Shape;195;p26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00" name="Google Shape;196;p26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01" name="Google Shape;197;p26"/>
          <p:cNvCxnSpPr/>
          <p:nvPr/>
        </p:nvCxnSpPr>
        <p:spPr>
          <a:xfrm rot="10800000" flipV="1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 hasCustomPrompt="1"/>
          </p:nvPr>
        </p:nvSpPr>
        <p:spPr>
          <a:xfrm>
            <a:off x="4346640" y="2467440"/>
            <a:ext cx="4083120" cy="1199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title" hasCustomPrompt="1"/>
          </p:nvPr>
        </p:nvSpPr>
        <p:spPr>
          <a:xfrm>
            <a:off x="4956120" y="1021320"/>
            <a:ext cx="1650600" cy="97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fr-FR" sz="70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7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104" name="Google Shape;202;p27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05" name="Google Shape;203;p27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06" name="Google Shape;204;p27"/>
          <p:cNvCxnSpPr/>
          <p:nvPr/>
        </p:nvCxnSpPr>
        <p:spPr>
          <a:xfrm>
            <a:off x="-209520" y="2402280"/>
            <a:ext cx="3144240" cy="2790000"/>
          </a:xfrm>
          <a:prstGeom prst="curvedConnector3">
            <a:avLst>
              <a:gd name="adj1" fmla="val 50005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 hasCustomPrompt="1"/>
          </p:nvPr>
        </p:nvSpPr>
        <p:spPr>
          <a:xfrm>
            <a:off x="4374000" y="944280"/>
            <a:ext cx="4009320" cy="64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title" hasCustomPrompt="1"/>
          </p:nvPr>
        </p:nvSpPr>
        <p:spPr>
          <a:xfrm>
            <a:off x="2295000" y="1096560"/>
            <a:ext cx="1650600" cy="97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lang="fr-FR" sz="70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7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109" name="Google Shape;209;p28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10" name="Google Shape;210;p28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11" name="Google Shape;211;p28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12" name="Google Shape;212;p28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13" name="Google Shape;213;p28"/>
          <p:cNvCxnSpPr/>
          <p:nvPr/>
        </p:nvCxnSpPr>
        <p:spPr>
          <a:xfrm rot="10800000" flipV="1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14" name="Google Shape;214;p28"/>
          <p:cNvCxnSpPr/>
          <p:nvPr/>
        </p:nvCxnSpPr>
        <p:spPr>
          <a:xfrm rot="10800000" flipV="1">
            <a:off x="-237240" y="-70920"/>
            <a:ext cx="1926720" cy="1161000"/>
          </a:xfrm>
          <a:prstGeom prst="curvedConnector3">
            <a:avLst>
              <a:gd name="adj1" fmla="val 49990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 hasCustomPrompt="1"/>
          </p:nvPr>
        </p:nvSpPr>
        <p:spPr>
          <a:xfrm>
            <a:off x="1043640" y="922680"/>
            <a:ext cx="3122640" cy="2257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116" name="Google Shape;218;p29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17" name="Google Shape;219;p29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18" name="Google Shape;220;p29"/>
          <p:cNvCxnSpPr/>
          <p:nvPr/>
        </p:nvCxnSpPr>
        <p:spPr>
          <a:xfrm>
            <a:off x="5322600" y="-80280"/>
            <a:ext cx="4005360" cy="2007000"/>
          </a:xfrm>
          <a:prstGeom prst="curvedConnector3">
            <a:avLst>
              <a:gd name="adj1" fmla="val 50004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 hasCustomPrompt="1"/>
          </p:nvPr>
        </p:nvSpPr>
        <p:spPr>
          <a:xfrm>
            <a:off x="5311080" y="962640"/>
            <a:ext cx="3122640" cy="2257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120" name="Google Shape;224;p30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21" name="Google Shape;225;p30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22" name="Google Shape;226;p30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23" name="Google Shape;227;p30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24" name="Google Shape;228;p30"/>
          <p:cNvCxnSpPr/>
          <p:nvPr/>
        </p:nvCxnSpPr>
        <p:spPr>
          <a:xfrm rot="10800000" flipV="1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25" name="Google Shape;229;p30"/>
          <p:cNvCxnSpPr/>
          <p:nvPr/>
        </p:nvCxnSpPr>
        <p:spPr>
          <a:xfrm rot="10800000" flipV="1">
            <a:off x="-237240" y="-70920"/>
            <a:ext cx="1926720" cy="1161000"/>
          </a:xfrm>
          <a:prstGeom prst="curvedConnector3">
            <a:avLst>
              <a:gd name="adj1" fmla="val 49990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444960"/>
            <a:ext cx="4711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 hasCustomPrompt="1"/>
          </p:nvPr>
        </p:nvSpPr>
        <p:spPr>
          <a:xfrm>
            <a:off x="713160" y="1272960"/>
            <a:ext cx="7717320" cy="3295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1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1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1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1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1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1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1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128" name="Google Shape;26;p4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29" name="Google Shape;27;p4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30" name="Google Shape;28;p4"/>
          <p:cNvCxnSpPr/>
          <p:nvPr/>
        </p:nvCxnSpPr>
        <p:spPr>
          <a:xfrm>
            <a:off x="6884640" y="-113400"/>
            <a:ext cx="2566080" cy="1306080"/>
          </a:xfrm>
          <a:prstGeom prst="curvedConnector3">
            <a:avLst>
              <a:gd name="adj1" fmla="val 50007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444960"/>
            <a:ext cx="6655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132" name="Google Shape;238;p31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33" name="Google Shape;239;p31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 hasCustomPrompt="1"/>
          </p:nvPr>
        </p:nvSpPr>
        <p:spPr>
          <a:xfrm>
            <a:off x="1244160" y="444960"/>
            <a:ext cx="6655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135" name="Google Shape;254;p32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36" name="Google Shape;255;p32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37" name="Google Shape;256;p32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38" name="Google Shape;257;p32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444960"/>
            <a:ext cx="6080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140" name="Google Shape;272;p33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41" name="Google Shape;273;p33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 hasCustomPrompt="1"/>
          </p:nvPr>
        </p:nvSpPr>
        <p:spPr>
          <a:xfrm>
            <a:off x="1531800" y="444960"/>
            <a:ext cx="6080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143" name="Google Shape;286;p34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44" name="Google Shape;287;p34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45" name="Google Shape;288;p34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46" name="Google Shape;289;p34"/>
          <p:cNvCxnSpPr/>
          <p:nvPr/>
        </p:nvCxnSpPr>
        <p:spPr>
          <a:xfrm rot="10800000" flipV="1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 hasCustomPrompt="1"/>
          </p:nvPr>
        </p:nvSpPr>
        <p:spPr>
          <a:xfrm>
            <a:off x="716400" y="1073160"/>
            <a:ext cx="5640120" cy="285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96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96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148" name="Google Shape;292;p35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49" name="Google Shape;293;p35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50" name="Google Shape;294;p35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51" name="Google Shape;295;p35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52" name="Google Shape;296;p35"/>
          <p:cNvCxnSpPr/>
          <p:nvPr/>
        </p:nvCxnSpPr>
        <p:spPr>
          <a:xfrm rot="10800000" flipV="1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53" name="Google Shape;297;p35"/>
          <p:cNvCxnSpPr/>
          <p:nvPr/>
        </p:nvCxnSpPr>
        <p:spPr>
          <a:xfrm rot="10800000" flipV="1">
            <a:off x="-237240" y="-70920"/>
            <a:ext cx="1926720" cy="1161000"/>
          </a:xfrm>
          <a:prstGeom prst="curvedConnector3">
            <a:avLst>
              <a:gd name="adj1" fmla="val 49990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444960"/>
            <a:ext cx="64800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155" name="Google Shape;308;p36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56" name="Google Shape;309;p36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444960"/>
            <a:ext cx="55173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158" name="Google Shape;318;p37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59" name="Google Shape;319;p37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60" name="Google Shape;320;p37"/>
          <p:cNvCxnSpPr/>
          <p:nvPr/>
        </p:nvCxnSpPr>
        <p:spPr>
          <a:xfrm>
            <a:off x="7434000" y="-125280"/>
            <a:ext cx="1993680" cy="13302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1" name="Google Shape;322;p38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62" name="Google Shape;323;p38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63" name="Google Shape;324;p38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64" name="Google Shape;325;p38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65" name="Google Shape;326;p38"/>
          <p:cNvCxnSpPr/>
          <p:nvPr/>
        </p:nvCxnSpPr>
        <p:spPr>
          <a:xfrm rot="10800000" flipV="1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66" name="Google Shape;327;p38"/>
          <p:cNvCxnSpPr/>
          <p:nvPr/>
        </p:nvCxnSpPr>
        <p:spPr>
          <a:xfrm rot="10800000" flipV="1">
            <a:off x="-237240" y="-70920"/>
            <a:ext cx="1926720" cy="1161000"/>
          </a:xfrm>
          <a:prstGeom prst="curvedConnector3">
            <a:avLst>
              <a:gd name="adj1" fmla="val 49990"/>
            </a:avLst>
          </a:prstGeom>
          <a:ln w="28575">
            <a:solidFill>
              <a:srgbClr val="3F3533"/>
            </a:solidFill>
            <a:round/>
          </a:ln>
        </p:spPr>
      </p:cxnSp>
      <p:sp>
        <p:nvSpPr>
          <p:cNvPr id="167" name="PlaceHolder 1"/>
          <p:cNvSpPr>
            <a:spLocks noGrp="1"/>
          </p:cNvSpPr>
          <p:nvPr>
            <p:ph type="title" hasCustomPrompt="1"/>
          </p:nvPr>
        </p:nvSpPr>
        <p:spPr>
          <a:xfrm>
            <a:off x="2780280" y="444960"/>
            <a:ext cx="3583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title" hasCustomPrompt="1"/>
          </p:nvPr>
        </p:nvSpPr>
        <p:spPr>
          <a:xfrm>
            <a:off x="1351080" y="1131480"/>
            <a:ext cx="248580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38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3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title" hasCustomPrompt="1"/>
          </p:nvPr>
        </p:nvSpPr>
        <p:spPr>
          <a:xfrm>
            <a:off x="5306760" y="1131480"/>
            <a:ext cx="248580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38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3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 type="title" hasCustomPrompt="1"/>
          </p:nvPr>
        </p:nvSpPr>
        <p:spPr>
          <a:xfrm>
            <a:off x="1351440" y="2964600"/>
            <a:ext cx="248580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38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3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1" name="PlaceHolder 5"/>
          <p:cNvSpPr>
            <a:spLocks noGrp="1"/>
          </p:cNvSpPr>
          <p:nvPr>
            <p:ph type="title" hasCustomPrompt="1"/>
          </p:nvPr>
        </p:nvSpPr>
        <p:spPr>
          <a:xfrm>
            <a:off x="5306760" y="2964600"/>
            <a:ext cx="248580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38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3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2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444960"/>
            <a:ext cx="31885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173" name="Google Shape;349;p39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74" name="Google Shape;350;p39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444960"/>
            <a:ext cx="2785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176" name="Google Shape;361;p40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77" name="Google Shape;362;p40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444960"/>
            <a:ext cx="56808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179" name="Google Shape;35;p5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80" name="Google Shape;36;p5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81" name="Google Shape;37;p5"/>
          <p:cNvCxnSpPr/>
          <p:nvPr/>
        </p:nvCxnSpPr>
        <p:spPr>
          <a:xfrm rot="10800000" flipV="1">
            <a:off x="6935400" y="3931200"/>
            <a:ext cx="2549880" cy="135468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2" name="Google Shape;364;p41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83" name="Google Shape;365;p41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84" name="Google Shape;366;p41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85" name="Google Shape;367;p41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86" name="Google Shape;368;p41"/>
          <p:cNvCxnSpPr/>
          <p:nvPr/>
        </p:nvCxnSpPr>
        <p:spPr>
          <a:xfrm rot="10800000" flipV="1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87" name="Google Shape;369;p41"/>
          <p:cNvCxnSpPr/>
          <p:nvPr/>
        </p:nvCxnSpPr>
        <p:spPr>
          <a:xfrm rot="10800000" flipV="1">
            <a:off x="-237240" y="-70920"/>
            <a:ext cx="1926720" cy="1161000"/>
          </a:xfrm>
          <a:prstGeom prst="curvedConnector3">
            <a:avLst>
              <a:gd name="adj1" fmla="val 49990"/>
            </a:avLst>
          </a:prstGeom>
          <a:ln w="28575">
            <a:solidFill>
              <a:srgbClr val="3F3533"/>
            </a:solidFill>
            <a:round/>
          </a:ln>
        </p:spPr>
      </p:cxnSp>
      <p:sp>
        <p:nvSpPr>
          <p:cNvPr id="188" name="PlaceHolder 1"/>
          <p:cNvSpPr>
            <a:spLocks noGrp="1"/>
          </p:cNvSpPr>
          <p:nvPr>
            <p:ph type="title" hasCustomPrompt="1"/>
          </p:nvPr>
        </p:nvSpPr>
        <p:spPr>
          <a:xfrm>
            <a:off x="1531800" y="444960"/>
            <a:ext cx="6080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 hasCustomPrompt="1"/>
          </p:nvPr>
        </p:nvSpPr>
        <p:spPr>
          <a:xfrm>
            <a:off x="2593080" y="714600"/>
            <a:ext cx="3957840" cy="61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title" hasCustomPrompt="1"/>
          </p:nvPr>
        </p:nvSpPr>
        <p:spPr>
          <a:xfrm>
            <a:off x="2593080" y="2063160"/>
            <a:ext cx="3957840" cy="61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43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43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title" hasCustomPrompt="1"/>
          </p:nvPr>
        </p:nvSpPr>
        <p:spPr>
          <a:xfrm>
            <a:off x="2593080" y="3411360"/>
            <a:ext cx="3957840" cy="61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43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43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192" name="Google Shape;384;p42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93" name="Google Shape;385;p42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4" name="Google Shape;393;p43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95" name="Google Shape;394;p43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96" name="Google Shape;395;p43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97" name="Google Shape;396;p43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98" name="Google Shape;397;p43"/>
          <p:cNvCxnSpPr/>
          <p:nvPr/>
        </p:nvCxnSpPr>
        <p:spPr>
          <a:xfrm rot="10800000" flipV="1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sp>
        <p:nvSpPr>
          <p:cNvPr id="199" name="PlaceHolder 1"/>
          <p:cNvSpPr>
            <a:spLocks noGrp="1"/>
          </p:cNvSpPr>
          <p:nvPr>
            <p:ph type="title" hasCustomPrompt="1"/>
          </p:nvPr>
        </p:nvSpPr>
        <p:spPr>
          <a:xfrm>
            <a:off x="732960" y="1114560"/>
            <a:ext cx="1117800" cy="61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title" hasCustomPrompt="1"/>
          </p:nvPr>
        </p:nvSpPr>
        <p:spPr>
          <a:xfrm>
            <a:off x="732960" y="3503160"/>
            <a:ext cx="1117800" cy="61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title" hasCustomPrompt="1"/>
          </p:nvPr>
        </p:nvSpPr>
        <p:spPr>
          <a:xfrm>
            <a:off x="4440960" y="2276640"/>
            <a:ext cx="1117800" cy="61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 hasCustomPrompt="1"/>
          </p:nvPr>
        </p:nvSpPr>
        <p:spPr>
          <a:xfrm>
            <a:off x="803880" y="2040480"/>
            <a:ext cx="4087080" cy="672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203" name="Google Shape;404;p44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04" name="Google Shape;405;p44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 hasCustomPrompt="1"/>
          </p:nvPr>
        </p:nvSpPr>
        <p:spPr>
          <a:xfrm>
            <a:off x="4490280" y="2047680"/>
            <a:ext cx="3363840" cy="62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206" name="Google Shape;409;p45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07" name="Google Shape;410;p45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444960"/>
            <a:ext cx="45025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209" name="Google Shape;414;p46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10" name="Google Shape;415;p46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11" name="Google Shape;416;p46"/>
          <p:cNvCxnSpPr/>
          <p:nvPr/>
        </p:nvCxnSpPr>
        <p:spPr>
          <a:xfrm rot="10800000" flipV="1">
            <a:off x="6771600" y="3663360"/>
            <a:ext cx="2823840" cy="1633320"/>
          </a:xfrm>
          <a:prstGeom prst="curvedConnector3">
            <a:avLst>
              <a:gd name="adj1" fmla="val 49993"/>
            </a:avLst>
          </a:prstGeom>
          <a:ln w="28575">
            <a:solidFill>
              <a:srgbClr val="3F3533"/>
            </a:solidFill>
            <a:round/>
          </a:ln>
        </p:spPr>
      </p:cxnSp>
      <p:sp>
        <p:nvSpPr>
          <p:cNvPr id="212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3" name="Google Shape;418;p47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14" name="Google Shape;419;p47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15" name="Google Shape;420;p47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16" name="Google Shape;421;p47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17" name="Google Shape;422;p47"/>
          <p:cNvCxnSpPr/>
          <p:nvPr/>
        </p:nvCxnSpPr>
        <p:spPr>
          <a:xfrm rot="10800000" flipV="1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18" name="Google Shape;423;p47"/>
          <p:cNvCxnSpPr/>
          <p:nvPr/>
        </p:nvCxnSpPr>
        <p:spPr>
          <a:xfrm rot="10800000" flipV="1">
            <a:off x="-237240" y="-70920"/>
            <a:ext cx="1926720" cy="1161000"/>
          </a:xfrm>
          <a:prstGeom prst="curvedConnector3">
            <a:avLst>
              <a:gd name="adj1" fmla="val 49990"/>
            </a:avLst>
          </a:prstGeom>
          <a:ln w="28575">
            <a:solidFill>
              <a:srgbClr val="3F3533"/>
            </a:solidFill>
            <a:round/>
          </a:ln>
        </p:spPr>
      </p:cxnSp>
      <p:sp>
        <p:nvSpPr>
          <p:cNvPr id="219" name="PlaceHolder 1"/>
          <p:cNvSpPr>
            <a:spLocks noGrp="1"/>
          </p:cNvSpPr>
          <p:nvPr>
            <p:ph type="title" hasCustomPrompt="1"/>
          </p:nvPr>
        </p:nvSpPr>
        <p:spPr>
          <a:xfrm>
            <a:off x="1531800" y="444960"/>
            <a:ext cx="6080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444960"/>
            <a:ext cx="27288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221" name="Google Shape;433;p48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22" name="Google Shape;434;p48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 hasCustomPrompt="1"/>
          </p:nvPr>
        </p:nvSpPr>
        <p:spPr>
          <a:xfrm>
            <a:off x="1244160" y="444960"/>
            <a:ext cx="6655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224" name="Google Shape;443;p49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25" name="Google Shape;444;p49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26" name="Google Shape;445;p49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27" name="Google Shape;446;p49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 hasCustomPrompt="1"/>
          </p:nvPr>
        </p:nvSpPr>
        <p:spPr>
          <a:xfrm>
            <a:off x="2832840" y="791280"/>
            <a:ext cx="3477960" cy="922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</a:pPr>
            <a:r>
              <a:rPr lang="fr-FR" sz="7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7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9" name="Google Shape;450;p50"/>
          <p:cNvSpPr/>
          <p:nvPr/>
        </p:nvSpPr>
        <p:spPr>
          <a:xfrm>
            <a:off x="2900520" y="3438360"/>
            <a:ext cx="3342960" cy="716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1100" b="1" u="none" strike="noStrik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CREDITS</a:t>
            </a:r>
            <a:r>
              <a:rPr lang="en-GB" sz="1100" b="0" u="none" strike="noStrik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: This presentation template was created by </a:t>
            </a:r>
            <a:r>
              <a:rPr lang="en-GB" sz="1100" b="1" u="sng" strike="noStrike">
                <a:solidFill>
                  <a:schemeClr val="dk2"/>
                </a:solidFill>
                <a:effectLst/>
                <a:uFillTx/>
                <a:latin typeface="Montserrat"/>
                <a:ea typeface="Montserrat"/>
                <a:hlinkClick r:id="rId2"/>
              </a:rPr>
              <a:t>Slidesgo</a:t>
            </a:r>
            <a:r>
              <a:rPr lang="en-GB" sz="1100" b="0" u="none" strike="noStrik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, including icons by </a:t>
            </a:r>
            <a:r>
              <a:rPr lang="en-GB" sz="1100" b="1" u="sng" strike="noStrike">
                <a:solidFill>
                  <a:schemeClr val="dk2"/>
                </a:solidFill>
                <a:effectLst/>
                <a:uFillTx/>
                <a:latin typeface="Montserrat"/>
                <a:ea typeface="Montserrat"/>
                <a:hlinkClick r:id="rId3"/>
              </a:rPr>
              <a:t>Flaticon</a:t>
            </a:r>
            <a:r>
              <a:rPr lang="en-GB" sz="1100" b="0" u="none" strike="noStrik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, infographics &amp; images by </a:t>
            </a:r>
            <a:r>
              <a:rPr lang="en-GB" sz="1100" b="1" u="sng" strike="noStrike">
                <a:solidFill>
                  <a:schemeClr val="dk2"/>
                </a:solidFill>
                <a:effectLst/>
                <a:uFillTx/>
                <a:latin typeface="Montserrat"/>
                <a:ea typeface="Montserrat"/>
                <a:hlinkClick r:id="rId4"/>
              </a:rPr>
              <a:t>Freepik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230" name="Google Shape;451;p50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31" name="Google Shape;452;p50"/>
          <p:cNvCxnSpPr/>
          <p:nvPr/>
        </p:nvCxnSpPr>
        <p:spPr>
          <a:xfrm>
            <a:off x="-257760" y="3935160"/>
            <a:ext cx="3047400" cy="13467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32" name="Google Shape;453;p50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33" name="Google Shape;454;p50"/>
          <p:cNvCxnSpPr/>
          <p:nvPr/>
        </p:nvCxnSpPr>
        <p:spPr>
          <a:xfrm>
            <a:off x="6467400" y="-72360"/>
            <a:ext cx="3047760" cy="1346400"/>
          </a:xfrm>
          <a:prstGeom prst="curvedConnector3">
            <a:avLst>
              <a:gd name="adj1" fmla="val 50005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44496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235" name="Google Shape;40;p6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36" name="Google Shape;41;p6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7" name="Google Shape;456;p51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38" name="Google Shape;457;p51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9" name="Google Shape;459;p52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40" name="Google Shape;460;p52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41" name="Google Shape;461;p52"/>
          <p:cNvCxnSpPr/>
          <p:nvPr/>
        </p:nvCxnSpPr>
        <p:spPr>
          <a:xfrm>
            <a:off x="7434000" y="-125280"/>
            <a:ext cx="1993680" cy="13302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42" name="Google Shape;462;p52"/>
          <p:cNvCxnSpPr/>
          <p:nvPr/>
        </p:nvCxnSpPr>
        <p:spPr>
          <a:xfrm>
            <a:off x="-147240" y="3943440"/>
            <a:ext cx="1993320" cy="13305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3" name="Google Shape;464;p53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44" name="Google Shape;465;p53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45" name="Google Shape;466;p53"/>
          <p:cNvCxnSpPr/>
          <p:nvPr/>
        </p:nvCxnSpPr>
        <p:spPr>
          <a:xfrm rot="10800000" flipV="1">
            <a:off x="6771600" y="3663360"/>
            <a:ext cx="2823840" cy="1633320"/>
          </a:xfrm>
          <a:prstGeom prst="curvedConnector3">
            <a:avLst>
              <a:gd name="adj1" fmla="val 49993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6" name="Google Shape;468;p54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47" name="Google Shape;469;p54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48" name="Google Shape;470;p54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49" name="Google Shape;471;p54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50" name="Google Shape;472;p54"/>
          <p:cNvCxnSpPr/>
          <p:nvPr/>
        </p:nvCxnSpPr>
        <p:spPr>
          <a:xfrm rot="10800000" flipV="1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51" name="Google Shape;473;p54"/>
          <p:cNvCxnSpPr/>
          <p:nvPr/>
        </p:nvCxnSpPr>
        <p:spPr>
          <a:xfrm rot="10800000" flipV="1">
            <a:off x="-237240" y="-70920"/>
            <a:ext cx="1926720" cy="1161000"/>
          </a:xfrm>
          <a:prstGeom prst="curvedConnector3">
            <a:avLst>
              <a:gd name="adj1" fmla="val 49990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444960"/>
            <a:ext cx="42969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253" name="Google Shape;46;p7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54" name="Google Shape;47;p7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 hasCustomPrompt="1"/>
          </p:nvPr>
        </p:nvSpPr>
        <p:spPr>
          <a:xfrm>
            <a:off x="1122480" y="1073160"/>
            <a:ext cx="6898680" cy="285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96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96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256" name="Google Shape;50;p8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57" name="Google Shape;51;p8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58" name="Google Shape;52;p8"/>
          <p:cNvCxnSpPr/>
          <p:nvPr/>
        </p:nvCxnSpPr>
        <p:spPr>
          <a:xfrm rot="10800000" flipV="1">
            <a:off x="7093080" y="3934800"/>
            <a:ext cx="2333160" cy="134748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59" name="Google Shape;53;p8"/>
          <p:cNvCxnSpPr/>
          <p:nvPr/>
        </p:nvCxnSpPr>
        <p:spPr>
          <a:xfrm rot="10800000" flipV="1">
            <a:off x="-420480" y="-121320"/>
            <a:ext cx="2332800" cy="1346760"/>
          </a:xfrm>
          <a:prstGeom prst="curvedConnector3">
            <a:avLst>
              <a:gd name="adj1" fmla="val 49992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444960"/>
            <a:ext cx="5679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261" name="Google Shape;57;p9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62" name="Google Shape;58;p9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63" name="Google Shape;59;p9"/>
          <p:cNvCxnSpPr/>
          <p:nvPr/>
        </p:nvCxnSpPr>
        <p:spPr>
          <a:xfrm rot="10800000" flipV="1">
            <a:off x="5924880" y="2796840"/>
            <a:ext cx="3378240" cy="2467440"/>
          </a:xfrm>
          <a:prstGeom prst="curvedConnector3">
            <a:avLst>
              <a:gd name="adj1" fmla="val 49994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body" hasCustomPrompt="1"/>
          </p:nvPr>
        </p:nvSpPr>
        <p:spPr>
          <a:xfrm>
            <a:off x="713160" y="442080"/>
            <a:ext cx="3556800" cy="97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3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3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3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3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3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3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3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265" name="Google Shape;62;p10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66" name="Google Shape;63;p10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67" name="Google Shape;64;p10"/>
          <p:cNvCxnSpPr/>
          <p:nvPr/>
        </p:nvCxnSpPr>
        <p:spPr>
          <a:xfrm flipV="1">
            <a:off x="6144840" y="3103560"/>
            <a:ext cx="3118680" cy="220140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 hasCustomPrompt="1"/>
          </p:nvPr>
        </p:nvSpPr>
        <p:spPr>
          <a:xfrm>
            <a:off x="1048320" y="324000"/>
            <a:ext cx="704700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5" Type="http://schemas.openxmlformats.org/officeDocument/2006/relationships/theme" Target="../theme/theme1.xml"/><Relationship Id="rId54" Type="http://schemas.openxmlformats.org/officeDocument/2006/relationships/slideLayout" Target="../slideLayouts/slideLayout54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.xml"/><Relationship Id="rId49" Type="http://schemas.openxmlformats.org/officeDocument/2006/relationships/slideLayout" Target="../slideLayouts/slideLayout4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4" r:id="rId1"/>
    <p:sldLayoutId id="2147483705" r:id="rId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7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54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15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35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4.xml"/><Relationship Id="rId1" Type="http://schemas.openxmlformats.org/officeDocument/2006/relationships/image" Target="../media/image3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2123440" y="483870"/>
            <a:ext cx="6182360" cy="6699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ts val="4515"/>
              </a:lnSpc>
              <a:buNone/>
            </a:pPr>
            <a:r>
              <a:rPr lang="en-US" sz="2420" b="1" dirty="0">
                <a:solidFill>
                  <a:srgbClr val="24110A"/>
                </a:solidFill>
                <a:latin typeface="Times New Roman" panose="02020603050405020304" charset="0"/>
                <a:ea typeface="Noto Serif KR Extra" pitchFamily="34" charset="-122"/>
                <a:cs typeface="Times New Roman" panose="02020603050405020304" charset="0"/>
                <a:sym typeface="+mn-ea"/>
              </a:rPr>
              <a:t>Recap on  Databases and File Systems</a:t>
            </a:r>
            <a:endParaRPr lang="en-US" sz="2420" b="1" dirty="0">
              <a:solidFill>
                <a:srgbClr val="24110A"/>
              </a:solidFill>
              <a:latin typeface="Times New Roman" panose="02020603050405020304" charset="0"/>
              <a:ea typeface="Noto Serif KR Extra" pitchFamily="34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1577" y="3939890"/>
            <a:ext cx="1042318" cy="67374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539750" y="1203960"/>
            <a:ext cx="2426970" cy="48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ts val="3060"/>
              </a:lnSpc>
              <a:buNone/>
            </a:pPr>
            <a:r>
              <a:rPr lang="en-US" sz="1690" b="1" dirty="0">
                <a:solidFill>
                  <a:srgbClr val="24110A"/>
                </a:solidFill>
                <a:latin typeface="Times New Roman" panose="02020603050405020304" charset="0"/>
                <a:ea typeface="Noto Serif KR Extra" pitchFamily="34" charset="-122"/>
                <a:cs typeface="Times New Roman" panose="02020603050405020304" charset="0"/>
                <a:sym typeface="+mn-ea"/>
              </a:rPr>
              <a:t>What is a Database?</a:t>
            </a:r>
            <a:endParaRPr lang="en-US" sz="1690" b="1" dirty="0">
              <a:solidFill>
                <a:srgbClr val="24110A"/>
              </a:solidFill>
              <a:latin typeface="Times New Roman" panose="02020603050405020304" charset="0"/>
              <a:ea typeface="Noto Serif KR Extra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580380" y="1153795"/>
            <a:ext cx="3646170" cy="470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ts val="2960"/>
              </a:lnSpc>
              <a:buNone/>
            </a:pPr>
            <a:r>
              <a:rPr lang="en-US" sz="1630" b="1" dirty="0">
                <a:solidFill>
                  <a:srgbClr val="24110A"/>
                </a:solidFill>
                <a:latin typeface="Times New Roman" panose="02020603050405020304" charset="0"/>
                <a:ea typeface="Noto Serif KR Extra" pitchFamily="34" charset="-122"/>
                <a:cs typeface="Times New Roman" panose="02020603050405020304" charset="0"/>
                <a:sym typeface="+mn-ea"/>
              </a:rPr>
              <a:t>Problems with File Systems</a:t>
            </a:r>
            <a:endParaRPr lang="en-US" sz="1630" b="1" dirty="0">
              <a:solidFill>
                <a:srgbClr val="24110A"/>
              </a:solidFill>
              <a:latin typeface="Times New Roman" panose="02020603050405020304" charset="0"/>
              <a:ea typeface="Noto Serif KR Extra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39750" y="1624330"/>
            <a:ext cx="4572000" cy="956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ts val="2250"/>
              </a:lnSpc>
              <a:buNone/>
            </a:pPr>
            <a:r>
              <a:rPr lang="en-US" sz="1405" dirty="0">
                <a:solidFill>
                  <a:srgbClr val="24110A"/>
                </a:solidFill>
                <a:latin typeface="Times New Roman" panose="02020603050405020304" charset="0"/>
                <a:ea typeface="Noto Serif KR" pitchFamily="34" charset="-122"/>
                <a:cs typeface="Times New Roman" panose="02020603050405020304" charset="0"/>
                <a:sym typeface="+mn-ea"/>
              </a:rPr>
              <a:t>An organized collection of structured
electronic data controlled by a Database
Management System (DBMS).</a:t>
            </a:r>
            <a:endParaRPr lang="en-US" sz="1405" dirty="0">
              <a:solidFill>
                <a:srgbClr val="24110A"/>
              </a:solidFill>
              <a:latin typeface="Times New Roman" panose="02020603050405020304" charset="0"/>
              <a:ea typeface="Noto Serif KR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5580380" y="1564005"/>
            <a:ext cx="4572000" cy="1291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ts val="2340"/>
              </a:lnSpc>
              <a:buNone/>
            </a:pPr>
            <a:r>
              <a:rPr lang="en-US" sz="1465" dirty="0">
                <a:solidFill>
                  <a:srgbClr val="24110A"/>
                </a:solidFill>
                <a:latin typeface="Times New Roman" panose="02020603050405020304" charset="0"/>
                <a:ea typeface="Noto Serif KR" pitchFamily="34" charset="-122"/>
                <a:cs typeface="Times New Roman" panose="02020603050405020304" charset="0"/>
                <a:sym typeface="+mn-ea"/>
              </a:rPr>
              <a:t>• Data redundancy and inconsistency
(updates required in multiple places).
• Difficult access to data.
• Data integrity and security issues.</a:t>
            </a:r>
            <a:endParaRPr lang="en-US" sz="1465" dirty="0">
              <a:solidFill>
                <a:srgbClr val="24110A"/>
              </a:solidFill>
              <a:latin typeface="Times New Roman" panose="02020603050405020304" charset="0"/>
              <a:ea typeface="Noto Serif KR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611505" y="2813050"/>
            <a:ext cx="4572000" cy="48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ts val="3060"/>
              </a:lnSpc>
              <a:buNone/>
            </a:pPr>
            <a:r>
              <a:rPr lang="en-US" sz="1690" b="1" dirty="0">
                <a:solidFill>
                  <a:srgbClr val="24110A"/>
                </a:solidFill>
                <a:latin typeface="Times New Roman" panose="02020603050405020304" charset="0"/>
                <a:ea typeface="Noto Serif KR Extra" pitchFamily="34" charset="-122"/>
                <a:cs typeface="Times New Roman" panose="02020603050405020304" charset="0"/>
                <a:sym typeface="+mn-ea"/>
              </a:rPr>
              <a:t>Database Benefits</a:t>
            </a:r>
            <a:endParaRPr lang="en-US" sz="1690" b="1" dirty="0">
              <a:solidFill>
                <a:srgbClr val="24110A"/>
              </a:solidFill>
              <a:latin typeface="Times New Roman" panose="02020603050405020304" charset="0"/>
              <a:ea typeface="Noto Serif KR Extra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611505" y="3291840"/>
            <a:ext cx="4572000" cy="1291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ts val="2340"/>
              </a:lnSpc>
              <a:buNone/>
            </a:pPr>
            <a:r>
              <a:rPr lang="en-US" sz="1465" dirty="0">
                <a:solidFill>
                  <a:srgbClr val="24110A"/>
                </a:solidFill>
                <a:latin typeface="Times New Roman" panose="02020603050405020304" charset="0"/>
                <a:ea typeface="Noto Serif KR" pitchFamily="34" charset="-122"/>
                <a:cs typeface="Times New Roman" panose="02020603050405020304" charset="0"/>
                <a:sym typeface="+mn-ea"/>
              </a:rPr>
              <a:t>• Eliminates redundancy, ensures
consistency.
• Simplifies access, maintains integrity,
improves security.</a:t>
            </a:r>
            <a:endParaRPr lang="en-US" sz="1465" dirty="0">
              <a:solidFill>
                <a:srgbClr val="24110A"/>
              </a:solidFill>
              <a:latin typeface="Times New Roman" panose="02020603050405020304" charset="0"/>
              <a:ea typeface="Noto Serif KR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5580380" y="2855595"/>
            <a:ext cx="4572000" cy="48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ts val="3060"/>
              </a:lnSpc>
              <a:buNone/>
            </a:pPr>
            <a:r>
              <a:rPr lang="en-US" sz="1690" b="1" dirty="0">
                <a:solidFill>
                  <a:srgbClr val="24110A"/>
                </a:solidFill>
                <a:latin typeface="Times New Roman" panose="02020603050405020304" charset="0"/>
                <a:ea typeface="Noto Serif KR Extra" pitchFamily="34" charset="-122"/>
                <a:cs typeface="Times New Roman" panose="02020603050405020304" charset="0"/>
                <a:sym typeface="+mn-ea"/>
              </a:rPr>
              <a:t>Real-world Applications</a:t>
            </a:r>
            <a:endParaRPr lang="en-US" sz="1690" b="1" dirty="0">
              <a:solidFill>
                <a:srgbClr val="24110A"/>
              </a:solidFill>
              <a:latin typeface="Times New Roman" panose="02020603050405020304" charset="0"/>
              <a:ea typeface="Noto Serif KR Extra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5507990" y="3364230"/>
            <a:ext cx="4572000" cy="991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ts val="2340"/>
              </a:lnSpc>
              <a:buNone/>
            </a:pPr>
            <a:r>
              <a:rPr lang="en-US" sz="1465" dirty="0">
                <a:solidFill>
                  <a:srgbClr val="24110A"/>
                </a:solidFill>
                <a:latin typeface="Times New Roman" panose="02020603050405020304" charset="0"/>
                <a:ea typeface="Noto Serif KR" pitchFamily="34" charset="-122"/>
                <a:cs typeface="Times New Roman" panose="02020603050405020304" charset="0"/>
                <a:sym typeface="+mn-ea"/>
              </a:rPr>
              <a:t>• Banking, E-commerce, Healthcare
systems requiring reliable data
management.</a:t>
            </a:r>
            <a:endParaRPr lang="en-US" sz="1465" dirty="0">
              <a:solidFill>
                <a:srgbClr val="24110A"/>
              </a:solidFill>
              <a:latin typeface="Times New Roman" panose="02020603050405020304" charset="0"/>
              <a:ea typeface="Noto Serif KR" pitchFamily="34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35" y="3656930"/>
            <a:ext cx="685800" cy="96172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4341" y="3847244"/>
            <a:ext cx="1481324" cy="68401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188" y="1846436"/>
            <a:ext cx="1143000" cy="79719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547" y="1928813"/>
            <a:ext cx="987512" cy="720068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-2867144" y="500063"/>
            <a:ext cx="15310485" cy="36377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820"/>
              </a:lnSpc>
              <a:buNone/>
            </a:pPr>
            <a:r>
              <a:rPr lang="en-US" sz="2140" b="1" dirty="0">
                <a:solidFill>
                  <a:srgbClr val="000000"/>
                </a:solidFill>
                <a:latin typeface="Times New Roman" panose="02020603050405020304" charset="0"/>
                <a:ea typeface="Inter Semi" pitchFamily="34" charset="-122"/>
                <a:cs typeface="Times New Roman" panose="02020603050405020304" charset="0"/>
              </a:rPr>
              <a:t>Solving Data Redundancy: Excel vs. Split Tables</a:t>
            </a:r>
            <a:endParaRPr lang="en-US" sz="2140" b="1" dirty="0">
              <a:solidFill>
                <a:srgbClr val="000000"/>
              </a:solidFill>
              <a:latin typeface="Times New Roman" panose="02020603050405020304" charset="0"/>
              <a:ea typeface="Inter Semi" pitchFamily="34" charset="-122"/>
              <a:cs typeface="Times New Roman" panose="02020603050405020304" charset="0"/>
            </a:endParaRPr>
          </a:p>
        </p:txBody>
      </p:sp>
      <p:sp>
        <p:nvSpPr>
          <p:cNvPr id="8" name="Text 1"/>
          <p:cNvSpPr/>
          <p:nvPr/>
        </p:nvSpPr>
        <p:spPr>
          <a:xfrm>
            <a:off x="2175941" y="1200150"/>
            <a:ext cx="1485900" cy="404961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4250"/>
              </a:lnSpc>
              <a:buNone/>
            </a:pPr>
            <a:r>
              <a:rPr lang="en-US" sz="2925" b="1" dirty="0">
                <a:solidFill>
                  <a:srgbClr val="322E29"/>
                </a:solidFill>
                <a:latin typeface="Times New Roman" panose="02020603050405020304" charset="0"/>
                <a:ea typeface="Inter Semi" pitchFamily="34" charset="-122"/>
                <a:cs typeface="Times New Roman" panose="02020603050405020304" charset="0"/>
              </a:rPr>
              <a:t>01</a:t>
            </a:r>
            <a:endParaRPr lang="en-US" sz="2925" b="1" dirty="0">
              <a:solidFill>
                <a:srgbClr val="322E29"/>
              </a:solidFill>
              <a:latin typeface="Times New Roman" panose="02020603050405020304" charset="0"/>
              <a:ea typeface="Inter Semi" pitchFamily="34" charset="-122"/>
              <a:cs typeface="Times New Roman" panose="02020603050405020304" charset="0"/>
            </a:endParaRPr>
          </a:p>
        </p:txBody>
      </p:sp>
      <p:sp>
        <p:nvSpPr>
          <p:cNvPr id="9" name="Text 2"/>
          <p:cNvSpPr/>
          <p:nvPr/>
        </p:nvSpPr>
        <p:spPr>
          <a:xfrm>
            <a:off x="5464969" y="1200150"/>
            <a:ext cx="1657350" cy="451619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4740"/>
              </a:lnSpc>
              <a:buNone/>
            </a:pPr>
            <a:r>
              <a:rPr lang="en-US" sz="3265" b="1" dirty="0">
                <a:solidFill>
                  <a:srgbClr val="322E29"/>
                </a:solidFill>
                <a:latin typeface="Times New Roman" panose="02020603050405020304" charset="0"/>
                <a:ea typeface="Inter Semi" pitchFamily="34" charset="-122"/>
                <a:cs typeface="Times New Roman" panose="02020603050405020304" charset="0"/>
              </a:rPr>
              <a:t>02</a:t>
            </a:r>
            <a:endParaRPr lang="en-US" sz="3265" b="1" dirty="0">
              <a:solidFill>
                <a:srgbClr val="322E29"/>
              </a:solidFill>
              <a:latin typeface="Times New Roman" panose="02020603050405020304" charset="0"/>
              <a:ea typeface="Inter Semi" pitchFamily="34" charset="-122"/>
              <a:cs typeface="Times New Roman" panose="02020603050405020304" charset="0"/>
            </a:endParaRPr>
          </a:p>
        </p:txBody>
      </p:sp>
      <p:sp>
        <p:nvSpPr>
          <p:cNvPr id="10" name="Text 3"/>
          <p:cNvSpPr/>
          <p:nvPr/>
        </p:nvSpPr>
        <p:spPr>
          <a:xfrm>
            <a:off x="296801" y="3157538"/>
            <a:ext cx="1657350" cy="451619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4740"/>
              </a:lnSpc>
              <a:buNone/>
            </a:pPr>
            <a:r>
              <a:rPr lang="en-US" sz="3265" b="1" dirty="0">
                <a:solidFill>
                  <a:srgbClr val="322E29"/>
                </a:solidFill>
                <a:latin typeface="Times New Roman" panose="02020603050405020304" charset="0"/>
                <a:ea typeface="Inter Semi" pitchFamily="34" charset="-122"/>
                <a:cs typeface="Times New Roman" panose="02020603050405020304" charset="0"/>
              </a:rPr>
              <a:t>03</a:t>
            </a:r>
            <a:endParaRPr lang="en-US" sz="3265" b="1" dirty="0">
              <a:solidFill>
                <a:srgbClr val="322E29"/>
              </a:solidFill>
              <a:latin typeface="Times New Roman" panose="02020603050405020304" charset="0"/>
              <a:ea typeface="Inter Semi" pitchFamily="34" charset="-122"/>
              <a:cs typeface="Times New Roman" panose="02020603050405020304" charset="0"/>
            </a:endParaRPr>
          </a:p>
        </p:txBody>
      </p:sp>
      <p:sp>
        <p:nvSpPr>
          <p:cNvPr id="11" name="Text 4"/>
          <p:cNvSpPr/>
          <p:nvPr/>
        </p:nvSpPr>
        <p:spPr>
          <a:xfrm>
            <a:off x="5464969" y="3157538"/>
            <a:ext cx="1657350" cy="451619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4740"/>
              </a:lnSpc>
              <a:buNone/>
            </a:pPr>
            <a:r>
              <a:rPr lang="en-US" sz="3265" b="1" dirty="0">
                <a:solidFill>
                  <a:srgbClr val="322E29"/>
                </a:solidFill>
                <a:latin typeface="Times New Roman" panose="02020603050405020304" charset="0"/>
                <a:ea typeface="Inter Semi" pitchFamily="34" charset="-122"/>
                <a:cs typeface="Times New Roman" panose="02020603050405020304" charset="0"/>
              </a:rPr>
              <a:t>04</a:t>
            </a:r>
            <a:endParaRPr lang="en-US" sz="3265" b="1" dirty="0">
              <a:solidFill>
                <a:srgbClr val="322E29"/>
              </a:solidFill>
              <a:latin typeface="Times New Roman" panose="02020603050405020304" charset="0"/>
              <a:ea typeface="Inter Semi" pitchFamily="34" charset="-122"/>
              <a:cs typeface="Times New Roman" panose="02020603050405020304" charset="0"/>
            </a:endParaRPr>
          </a:p>
        </p:txBody>
      </p:sp>
      <p:sp>
        <p:nvSpPr>
          <p:cNvPr id="12" name="Text 5"/>
          <p:cNvSpPr/>
          <p:nvPr/>
        </p:nvSpPr>
        <p:spPr>
          <a:xfrm>
            <a:off x="1908175" y="1635601"/>
            <a:ext cx="5554980" cy="25851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15"/>
              </a:lnSpc>
              <a:buNone/>
            </a:pPr>
            <a:r>
              <a:rPr lang="en-US" sz="1520" b="1" dirty="0">
                <a:solidFill>
                  <a:srgbClr val="000000"/>
                </a:solidFill>
                <a:latin typeface="Times New Roman" panose="02020603050405020304" charset="0"/>
                <a:ea typeface="Inter Semi" pitchFamily="34" charset="-122"/>
                <a:cs typeface="Times New Roman" panose="02020603050405020304" charset="0"/>
              </a:rPr>
              <a:t>Problem: Data Redundancy</a:t>
            </a:r>
            <a:endParaRPr lang="en-US" sz="1520" b="1" dirty="0">
              <a:solidFill>
                <a:srgbClr val="000000"/>
              </a:solidFill>
              <a:latin typeface="Times New Roman" panose="02020603050405020304" charset="0"/>
              <a:ea typeface="Inter Semi" pitchFamily="34" charset="-122"/>
              <a:cs typeface="Times New Roman" panose="02020603050405020304" charset="0"/>
            </a:endParaRPr>
          </a:p>
        </p:txBody>
      </p:sp>
      <p:sp>
        <p:nvSpPr>
          <p:cNvPr id="13" name="Text 6"/>
          <p:cNvSpPr/>
          <p:nvPr/>
        </p:nvSpPr>
        <p:spPr>
          <a:xfrm>
            <a:off x="5436394" y="1605121"/>
            <a:ext cx="4320540" cy="26800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15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Times New Roman" panose="02020603050405020304" charset="0"/>
                <a:ea typeface="Inter Semi" pitchFamily="34" charset="-122"/>
                <a:cs typeface="Times New Roman" panose="02020603050405020304" charset="0"/>
              </a:rPr>
              <a:t>Bad Design Example</a:t>
            </a:r>
            <a:endParaRPr lang="en-US" sz="1575" b="1" dirty="0">
              <a:solidFill>
                <a:srgbClr val="000000"/>
              </a:solidFill>
              <a:latin typeface="Times New Roman" panose="02020603050405020304" charset="0"/>
              <a:ea typeface="Inter Semi" pitchFamily="34" charset="-122"/>
              <a:cs typeface="Times New Roman" panose="02020603050405020304" charset="0"/>
            </a:endParaRPr>
          </a:p>
        </p:txBody>
      </p:sp>
      <p:sp>
        <p:nvSpPr>
          <p:cNvPr id="14" name="Text 7"/>
          <p:cNvSpPr/>
          <p:nvPr/>
        </p:nvSpPr>
        <p:spPr>
          <a:xfrm>
            <a:off x="857250" y="3609181"/>
            <a:ext cx="4714875" cy="239316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515"/>
              </a:lnSpc>
              <a:buNone/>
            </a:pPr>
            <a:r>
              <a:rPr lang="en-US" sz="1405" b="1" dirty="0">
                <a:solidFill>
                  <a:srgbClr val="000000"/>
                </a:solidFill>
                <a:latin typeface="Times New Roman" panose="02020603050405020304" charset="0"/>
                <a:ea typeface="Inter Semi" pitchFamily="34" charset="-122"/>
                <a:cs typeface="Times New Roman" panose="02020603050405020304" charset="0"/>
              </a:rPr>
              <a:t>Better Design Solution</a:t>
            </a:r>
            <a:endParaRPr lang="en-US" sz="1405" b="1" dirty="0">
              <a:solidFill>
                <a:srgbClr val="000000"/>
              </a:solidFill>
              <a:latin typeface="Times New Roman" panose="02020603050405020304" charset="0"/>
              <a:ea typeface="Inter Semi" pitchFamily="34" charset="-122"/>
              <a:cs typeface="Times New Roman" panose="02020603050405020304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4972050" y="3597116"/>
            <a:ext cx="5760720" cy="26800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15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Times New Roman" panose="02020603050405020304" charset="0"/>
                <a:ea typeface="Inter Semi" pitchFamily="34" charset="-122"/>
                <a:cs typeface="Times New Roman" panose="02020603050405020304" charset="0"/>
              </a:rPr>
              <a:t>Benefits of Split Tables</a:t>
            </a:r>
            <a:endParaRPr lang="en-US" sz="1575" b="1" dirty="0">
              <a:solidFill>
                <a:srgbClr val="000000"/>
              </a:solidFill>
              <a:latin typeface="Times New Roman" panose="02020603050405020304" charset="0"/>
              <a:ea typeface="Inter Semi" pitchFamily="34" charset="-122"/>
              <a:cs typeface="Times New Roman" panose="02020603050405020304" charset="0"/>
            </a:endParaRPr>
          </a:p>
        </p:txBody>
      </p:sp>
      <p:sp>
        <p:nvSpPr>
          <p:cNvPr id="16" name="Text 9"/>
          <p:cNvSpPr/>
          <p:nvPr/>
        </p:nvSpPr>
        <p:spPr>
          <a:xfrm>
            <a:off x="1571625" y="2078831"/>
            <a:ext cx="3096035" cy="78849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070"/>
              </a:lnSpc>
              <a:buNone/>
            </a:pPr>
            <a:r>
              <a:rPr lang="en-US" sz="1295" dirty="0">
                <a:solidFill>
                  <a:srgbClr val="000000"/>
                </a:solidFill>
                <a:latin typeface="Times New Roman" panose="02020603050405020304" charset="0"/>
                <a:ea typeface="Inter Semi" pitchFamily="34" charset="-122"/>
                <a:cs typeface="Times New Roman" panose="02020603050405020304" charset="0"/>
              </a:rPr>
              <a:t>When customer information
appears in multiple rows,
changes must be made
everywhere, risking inconsistency.</a:t>
            </a:r>
            <a:endParaRPr lang="en-US" sz="1295" dirty="0">
              <a:solidFill>
                <a:srgbClr val="000000"/>
              </a:solidFill>
              <a:latin typeface="Times New Roman" panose="02020603050405020304" charset="0"/>
              <a:ea typeface="Inter Semi" pitchFamily="34" charset="-122"/>
              <a:cs typeface="Times New Roman" panose="02020603050405020304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4922044" y="2078831"/>
            <a:ext cx="2821000" cy="720179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180" dirty="0">
                <a:solidFill>
                  <a:srgbClr val="000000"/>
                </a:solidFill>
                <a:latin typeface="Times New Roman" panose="02020603050405020304" charset="0"/>
                <a:ea typeface="Inter Semi" pitchFamily="34" charset="-122"/>
                <a:cs typeface="Times New Roman" panose="02020603050405020304" charset="0"/>
              </a:rPr>
              <a:t>Single table with John Smith's
name and email repeated across
multiple order records creates
maintenance issues.</a:t>
            </a:r>
            <a:endParaRPr lang="en-US" sz="1180" dirty="0">
              <a:solidFill>
                <a:srgbClr val="000000"/>
              </a:solidFill>
              <a:latin typeface="Times New Roman" panose="02020603050405020304" charset="0"/>
              <a:ea typeface="Inter Semi" pitchFamily="34" charset="-122"/>
              <a:cs typeface="Times New Roman" panose="02020603050405020304" charset="0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857250" y="4014788"/>
            <a:ext cx="2349512" cy="56480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80"/>
              </a:lnSpc>
              <a:buNone/>
            </a:pPr>
            <a:r>
              <a:rPr lang="en-US" sz="1070" dirty="0">
                <a:solidFill>
                  <a:srgbClr val="000000"/>
                </a:solidFill>
                <a:latin typeface="Times New Roman" panose="02020603050405020304" charset="0"/>
                <a:ea typeface="Inter Semi" pitchFamily="34" charset="-122"/>
                <a:cs typeface="Times New Roman" panose="02020603050405020304" charset="0"/>
              </a:rPr>
              <a:t>Separate Customers and
Orders tables with CustomerID
as the link eliminates
repetition of customer details.</a:t>
            </a:r>
            <a:endParaRPr lang="en-US" sz="1070" dirty="0">
              <a:solidFill>
                <a:srgbClr val="000000"/>
              </a:solidFill>
              <a:latin typeface="Times New Roman" panose="02020603050405020304" charset="0"/>
              <a:ea typeface="Inter Semi" pitchFamily="34" charset="-122"/>
              <a:cs typeface="Times New Roman" panose="02020603050405020304" charset="0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4872038" y="4086225"/>
            <a:ext cx="3033191" cy="468139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40"/>
              </a:lnSpc>
              <a:buNone/>
            </a:pPr>
            <a:r>
              <a:rPr lang="en-US" sz="1180" dirty="0">
                <a:solidFill>
                  <a:srgbClr val="000000"/>
                </a:solidFill>
                <a:latin typeface="Times New Roman" panose="02020603050405020304" charset="0"/>
                <a:ea typeface="Inter Semi" pitchFamily="34" charset="-122"/>
                <a:cs typeface="Times New Roman" panose="02020603050405020304" charset="0"/>
              </a:rPr>
              <a:t>Update customer information once,
maintain data consistency, and
reduce storage requirements.</a:t>
            </a:r>
            <a:endParaRPr lang="en-US" sz="1180" dirty="0">
              <a:solidFill>
                <a:srgbClr val="000000"/>
              </a:solidFill>
              <a:latin typeface="Times New Roman" panose="02020603050405020304" charset="0"/>
              <a:ea typeface="Inter Semi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1038240" y="1324080"/>
            <a:ext cx="7067160" cy="2047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5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Vidaloka"/>
                <a:cs typeface="Times New Roman" panose="02020603050405020304" charset="0"/>
              </a:rPr>
              <a:t>ERD &amp; Schema</a:t>
            </a:r>
            <a:endParaRPr lang="fr-FR" sz="6500" b="0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 type="subTitle"/>
          </p:nvPr>
        </p:nvSpPr>
        <p:spPr>
          <a:xfrm>
            <a:off x="1038240" y="3381480"/>
            <a:ext cx="7067160" cy="437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Montserrat"/>
                <a:cs typeface="Times New Roman" panose="02020603050405020304" charset="0"/>
              </a:rPr>
              <a:t>Understanding core database concepts and design process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Rectangles 283"/>
          <p:cNvSpPr/>
          <p:nvPr/>
        </p:nvSpPr>
        <p:spPr>
          <a:xfrm>
            <a:off x="476280" y="476280"/>
            <a:ext cx="2285640" cy="86042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cs typeface="Times New Roman" panose="02020603050405020304" charset="0"/>
              </a:rPr>
              <a:t>01</a:t>
            </a:r>
            <a:endParaRPr lang="en-US" sz="5000" b="1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5" name="Rectangles 284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cs typeface="Times New Roman" panose="02020603050405020304" charset="0"/>
              </a:rPr>
              <a:t>Entity-Relationship Diagrams (ERD)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86" name="image6990b42e32fd9" descr="image6990b42e32fdf"/>
          <p:cNvPicPr/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Rectangles 286"/>
          <p:cNvSpPr/>
          <p:nvPr/>
        </p:nvSpPr>
        <p:spPr>
          <a:xfrm>
            <a:off x="476250" y="476250"/>
            <a:ext cx="6808470" cy="9525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cs typeface="Times New Roman" panose="02020603050405020304" charset="0"/>
              </a:rPr>
              <a:t>ERD Components and Symbols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8" name="Rectangles 287"/>
          <p:cNvSpPr/>
          <p:nvPr/>
        </p:nvSpPr>
        <p:spPr>
          <a:xfrm>
            <a:off x="395605" y="1347470"/>
            <a:ext cx="8589010" cy="24917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1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imes New Roman" panose="02020603050405020304" charset="0"/>
                <a:cs typeface="Times New Roman" panose="02020603050405020304" charset="0"/>
              </a:rPr>
              <a:t>- </a:t>
            </a:r>
            <a:r>
              <a:rPr lang="en-US" sz="1400" b="0" i="1" u="none" strike="noStrike">
                <a:solidFill>
                  <a:schemeClr val="dk2"/>
                </a:solidFill>
                <a:effectLst/>
                <a:uFillTx/>
                <a:latin typeface="Times New Roman" panose="02020603050405020304" charset="0"/>
                <a:cs typeface="Times New Roman" panose="02020603050405020304" charset="0"/>
              </a:rPr>
              <a:t>Entity</a:t>
            </a: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imes New Roman" panose="02020603050405020304" charset="0"/>
                <a:cs typeface="Times New Roman" panose="02020603050405020304" charset="0"/>
              </a:rPr>
              <a:t> (table) symbolizes major data objects. </a:t>
            </a:r>
            <a:r>
              <a:rPr lang="en-US" sz="140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person, place, object, event, concept (often corresponds to a real time object that is </a:t>
            </a:r>
            <a:r>
              <a:rPr lang="en-US" sz="14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distinguishable</a:t>
            </a:r>
            <a:r>
              <a:rPr lang="en-US" sz="140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from any other object)</a:t>
            </a:r>
            <a:endParaRPr lang="en-US" sz="1400" noProof="0" dirty="0" smtClean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lvl="1" defTabSz="914400">
              <a:lnSpc>
                <a:spcPct val="150000"/>
              </a:lnSpc>
              <a:tabLst>
                <a:tab pos="0" algn="l"/>
              </a:tabLst>
            </a:pPr>
            <a:endParaRPr kumimoji="0" 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117475" marR="0" lvl="1" indent="0" algn="just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+mj-lt"/>
              <a:buNone/>
              <a:defRPr/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imes New Roman" panose="02020603050405020304" charset="0"/>
                <a:cs typeface="Times New Roman" panose="02020603050405020304" charset="0"/>
              </a:rPr>
              <a:t>- </a:t>
            </a:r>
            <a:r>
              <a:rPr lang="en-US" sz="1400" b="0" i="1" u="none" strike="noStrike">
                <a:solidFill>
                  <a:schemeClr val="dk2"/>
                </a:solidFill>
                <a:effectLst/>
                <a:uFillTx/>
                <a:latin typeface="Times New Roman" panose="02020603050405020304" charset="0"/>
                <a:cs typeface="Times New Roman" panose="02020603050405020304" charset="0"/>
              </a:rPr>
              <a:t>Attributes</a:t>
            </a: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imes New Roman" panose="02020603050405020304" charset="0"/>
                <a:cs typeface="Times New Roman" panose="02020603050405020304" charset="0"/>
              </a:rPr>
              <a:t> (columns) describe entities,</a:t>
            </a:r>
            <a:r>
              <a:rPr lang="en-US" sz="140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sym typeface="+mn-ea"/>
              </a:rPr>
              <a:t> </a:t>
            </a:r>
            <a:r>
              <a:rPr lang="en-US" sz="140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property or </a:t>
            </a:r>
            <a:r>
              <a:rPr lang="en-US" sz="14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characteristic</a:t>
            </a:r>
            <a:r>
              <a:rPr lang="en-US" sz="140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of an entity type (often corresponds to a field in a table)</a:t>
            </a:r>
            <a:endParaRPr kumimoji="0" 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117475" marR="0" lvl="1" indent="0" algn="just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+mj-lt"/>
              <a:buNone/>
              <a:defRPr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1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imes New Roman" panose="02020603050405020304" charset="0"/>
                <a:cs typeface="Times New Roman" panose="02020603050405020304" charset="0"/>
              </a:rPr>
              <a:t>- </a:t>
            </a:r>
            <a:r>
              <a:rPr lang="en-US" sz="1400" b="0" i="1" u="none" strike="noStrike">
                <a:solidFill>
                  <a:schemeClr val="dk2"/>
                </a:solidFill>
                <a:effectLst/>
                <a:uFillTx/>
                <a:latin typeface="Times New Roman" panose="02020603050405020304" charset="0"/>
                <a:cs typeface="Times New Roman" panose="02020603050405020304" charset="0"/>
              </a:rPr>
              <a:t>Relationship lines</a:t>
            </a: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imes New Roman" panose="02020603050405020304" charset="0"/>
                <a:cs typeface="Times New Roman" panose="02020603050405020304" charset="0"/>
              </a:rPr>
              <a:t> show connections between entities.(</a:t>
            </a:r>
            <a:r>
              <a:rPr lang="en-US" sz="14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link</a:t>
            </a:r>
            <a:r>
              <a:rPr lang="en-US" sz="140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between entities (corresponds to primary </a:t>
            </a:r>
            <a:r>
              <a:rPr lang="en-US" sz="14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key-foreign key </a:t>
            </a:r>
            <a:r>
              <a:rPr lang="en-US" sz="140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equivalencies in related tables)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chemeClr val="dk2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ERD</a:t>
            </a:r>
            <a:r>
              <a:rPr lang="en-US"/>
              <a:t> ex: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/>
          </a:p>
        </p:txBody>
      </p:sp>
      <p:grpSp>
        <p:nvGrpSpPr>
          <p:cNvPr id="18437" name="Group 81"/>
          <p:cNvGrpSpPr/>
          <p:nvPr/>
        </p:nvGrpSpPr>
        <p:grpSpPr>
          <a:xfrm>
            <a:off x="829310" y="773748"/>
            <a:ext cx="6503988" cy="3435350"/>
            <a:chOff x="720" y="768"/>
            <a:chExt cx="4272" cy="2400"/>
          </a:xfrm>
        </p:grpSpPr>
        <p:sp>
          <p:nvSpPr>
            <p:cNvPr id="18439" name="Rectangle 62"/>
            <p:cNvSpPr/>
            <p:nvPr/>
          </p:nvSpPr>
          <p:spPr>
            <a:xfrm>
              <a:off x="1682" y="1859"/>
              <a:ext cx="731" cy="400"/>
            </a:xfrm>
            <a:prstGeom prst="rect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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Ø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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Ø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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latin typeface="Arial" panose="020B0604020202020204" pitchFamily="34" charset="0"/>
                  <a:ea typeface="MS PGothic" panose="020B0600070205080204" pitchFamily="34" charset="-128"/>
                </a:rPr>
                <a:t>customer</a:t>
              </a:r>
              <a:endParaRPr lang="en-US" altLang="en-US" sz="2000" dirty="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8440" name="AutoShape 63"/>
            <p:cNvSpPr/>
            <p:nvPr/>
          </p:nvSpPr>
          <p:spPr>
            <a:xfrm>
              <a:off x="2875" y="1677"/>
              <a:ext cx="808" cy="800"/>
            </a:xfrm>
            <a:prstGeom prst="diamond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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Ø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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Ø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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latin typeface="Arial" panose="020B0604020202020204" pitchFamily="34" charset="0"/>
                  <a:ea typeface="MS PGothic" panose="020B0600070205080204" pitchFamily="34" charset="-128"/>
                </a:rPr>
                <a:t>has</a:t>
              </a:r>
              <a:endParaRPr lang="en-US" altLang="en-US" sz="2000" dirty="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8441" name="Line 64"/>
            <p:cNvSpPr/>
            <p:nvPr/>
          </p:nvSpPr>
          <p:spPr>
            <a:xfrm>
              <a:off x="2413" y="2077"/>
              <a:ext cx="462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42" name="Line 65"/>
            <p:cNvSpPr/>
            <p:nvPr/>
          </p:nvSpPr>
          <p:spPr>
            <a:xfrm>
              <a:off x="3683" y="2077"/>
              <a:ext cx="462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43" name="Oval 66"/>
            <p:cNvSpPr/>
            <p:nvPr/>
          </p:nvSpPr>
          <p:spPr>
            <a:xfrm>
              <a:off x="720" y="2295"/>
              <a:ext cx="924" cy="328"/>
            </a:xfrm>
            <a:prstGeom prst="ellipse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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Ø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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Ø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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latin typeface="Arial" panose="020B0604020202020204" pitchFamily="34" charset="0"/>
                  <a:ea typeface="MS PGothic" panose="020B0600070205080204" pitchFamily="34" charset="-128"/>
                </a:rPr>
                <a:t>cust-street</a:t>
              </a:r>
              <a:endParaRPr lang="en-US" altLang="en-US" sz="1800" dirty="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8444" name="Oval 67"/>
            <p:cNvSpPr/>
            <p:nvPr/>
          </p:nvSpPr>
          <p:spPr>
            <a:xfrm>
              <a:off x="720" y="1495"/>
              <a:ext cx="924" cy="328"/>
            </a:xfrm>
            <a:prstGeom prst="ellipse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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Ø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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Ø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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latin typeface="Arial" panose="020B0604020202020204" pitchFamily="34" charset="0"/>
                  <a:ea typeface="MS PGothic" panose="020B0600070205080204" pitchFamily="34" charset="-128"/>
                </a:rPr>
                <a:t>cust-id</a:t>
              </a:r>
              <a:endParaRPr lang="en-US" altLang="en-US" sz="1800" dirty="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8445" name="Oval 68"/>
            <p:cNvSpPr/>
            <p:nvPr/>
          </p:nvSpPr>
          <p:spPr>
            <a:xfrm>
              <a:off x="1644" y="950"/>
              <a:ext cx="923" cy="327"/>
            </a:xfrm>
            <a:prstGeom prst="ellipse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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Ø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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Ø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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latin typeface="Arial" panose="020B0604020202020204" pitchFamily="34" charset="0"/>
                  <a:ea typeface="MS PGothic" panose="020B0600070205080204" pitchFamily="34" charset="-128"/>
                </a:rPr>
                <a:t>cust-name</a:t>
              </a:r>
              <a:endParaRPr lang="en-US" altLang="en-US" sz="1800" dirty="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8446" name="Oval 69"/>
            <p:cNvSpPr/>
            <p:nvPr/>
          </p:nvSpPr>
          <p:spPr>
            <a:xfrm>
              <a:off x="1567" y="2841"/>
              <a:ext cx="923" cy="327"/>
            </a:xfrm>
            <a:prstGeom prst="ellipse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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Ø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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Ø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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latin typeface="Arial" panose="020B0604020202020204" pitchFamily="34" charset="0"/>
                  <a:ea typeface="MS PGothic" panose="020B0600070205080204" pitchFamily="34" charset="-128"/>
                </a:rPr>
                <a:t>cust-city</a:t>
              </a:r>
              <a:endParaRPr lang="en-US" altLang="en-US" sz="1800" dirty="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8447" name="Rectangle 70"/>
            <p:cNvSpPr/>
            <p:nvPr/>
          </p:nvSpPr>
          <p:spPr>
            <a:xfrm>
              <a:off x="4145" y="1859"/>
              <a:ext cx="732" cy="400"/>
            </a:xfrm>
            <a:prstGeom prst="rect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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Ø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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Ø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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latin typeface="Arial" panose="020B0604020202020204" pitchFamily="34" charset="0"/>
                  <a:ea typeface="MS PGothic" panose="020B0600070205080204" pitchFamily="34" charset="-128"/>
                </a:rPr>
                <a:t>account</a:t>
              </a:r>
              <a:endParaRPr lang="en-US" altLang="en-US" sz="2000" dirty="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8448" name="Line 71"/>
            <p:cNvSpPr/>
            <p:nvPr/>
          </p:nvSpPr>
          <p:spPr>
            <a:xfrm>
              <a:off x="2067" y="1277"/>
              <a:ext cx="0" cy="582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49" name="Line 72"/>
            <p:cNvSpPr/>
            <p:nvPr/>
          </p:nvSpPr>
          <p:spPr>
            <a:xfrm>
              <a:off x="2029" y="2259"/>
              <a:ext cx="0" cy="582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0" name="Line 73"/>
            <p:cNvSpPr/>
            <p:nvPr/>
          </p:nvSpPr>
          <p:spPr>
            <a:xfrm>
              <a:off x="1567" y="1750"/>
              <a:ext cx="115" cy="109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1" name="Line 74"/>
            <p:cNvSpPr/>
            <p:nvPr/>
          </p:nvSpPr>
          <p:spPr>
            <a:xfrm flipH="1">
              <a:off x="1567" y="2259"/>
              <a:ext cx="115" cy="109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2" name="Oval 75"/>
            <p:cNvSpPr/>
            <p:nvPr/>
          </p:nvSpPr>
          <p:spPr>
            <a:xfrm>
              <a:off x="4030" y="2841"/>
              <a:ext cx="924" cy="327"/>
            </a:xfrm>
            <a:prstGeom prst="ellipse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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Ø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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Ø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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latin typeface="Arial" panose="020B0604020202020204" pitchFamily="34" charset="0"/>
                  <a:ea typeface="MS PGothic" panose="020B0600070205080204" pitchFamily="34" charset="-128"/>
                </a:rPr>
                <a:t>balance</a:t>
              </a:r>
              <a:endParaRPr lang="en-US" altLang="en-US" sz="1800" dirty="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8453" name="Line 76"/>
            <p:cNvSpPr/>
            <p:nvPr/>
          </p:nvSpPr>
          <p:spPr>
            <a:xfrm>
              <a:off x="4492" y="2259"/>
              <a:ext cx="0" cy="582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4" name="Oval 77"/>
            <p:cNvSpPr/>
            <p:nvPr/>
          </p:nvSpPr>
          <p:spPr>
            <a:xfrm>
              <a:off x="4068" y="950"/>
              <a:ext cx="924" cy="327"/>
            </a:xfrm>
            <a:prstGeom prst="ellipse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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Ø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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Ø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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latin typeface="Arial" panose="020B0604020202020204" pitchFamily="34" charset="0"/>
                  <a:ea typeface="MS PGothic" panose="020B0600070205080204" pitchFamily="34" charset="-128"/>
                </a:rPr>
                <a:t>number</a:t>
              </a:r>
              <a:endParaRPr lang="en-US" altLang="en-US" sz="1800" dirty="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8455" name="Line 78"/>
            <p:cNvSpPr/>
            <p:nvPr/>
          </p:nvSpPr>
          <p:spPr>
            <a:xfrm>
              <a:off x="4492" y="1277"/>
              <a:ext cx="0" cy="582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6" name="Oval 79"/>
            <p:cNvSpPr/>
            <p:nvPr/>
          </p:nvSpPr>
          <p:spPr>
            <a:xfrm>
              <a:off x="2798" y="768"/>
              <a:ext cx="924" cy="327"/>
            </a:xfrm>
            <a:prstGeom prst="ellipse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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Ø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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Ø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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latin typeface="Arial" panose="020B0604020202020204" pitchFamily="34" charset="0"/>
                  <a:ea typeface="MS PGothic" panose="020B0600070205080204" pitchFamily="34" charset="-128"/>
                </a:rPr>
                <a:t>access-date</a:t>
              </a:r>
              <a:endParaRPr lang="en-US" altLang="en-US" sz="1800" dirty="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8457" name="Line 80"/>
            <p:cNvSpPr/>
            <p:nvPr/>
          </p:nvSpPr>
          <p:spPr>
            <a:xfrm flipV="1">
              <a:off x="3260" y="1095"/>
              <a:ext cx="0" cy="582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000">
                <a:latin typeface="Times New Roman" panose="02020603050405020304" charset="0"/>
                <a:cs typeface="Times New Roman" panose="02020603050405020304" charset="0"/>
              </a:rPr>
              <a:t>Strong Entity vs Weak Entity</a:t>
            </a:r>
            <a:endParaRPr lang="en-US" sz="3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323215" y="1131570"/>
            <a:ext cx="7930515" cy="9271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Char char=""/>
              <a:defRPr/>
            </a:pPr>
            <a:r>
              <a:rPr lang="en-US" sz="16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 </a:t>
            </a:r>
            <a:r>
              <a:rPr lang="en-US" sz="1600" b="1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Strong Entity- </a:t>
            </a:r>
            <a:r>
              <a:rPr lang="en-US" sz="16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An Entity set that has a primary key. </a:t>
            </a: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Char char=""/>
              <a:defRPr/>
            </a:pPr>
            <a:r>
              <a:rPr lang="en-US" sz="16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 </a:t>
            </a:r>
            <a:r>
              <a:rPr lang="en-US" sz="1600" b="1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Weak Entity- </a:t>
            </a:r>
            <a:r>
              <a:rPr lang="en-US" sz="16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An entity set that do not have sufficient attributes to form a primary key.</a:t>
            </a:r>
            <a:endParaRPr lang="en-US" sz="1600" noProof="0" dirty="0" smtClean="0">
              <a:ln>
                <a:noFill/>
              </a:ln>
              <a:effectLst/>
              <a:uLnTx/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Char char=""/>
              <a:defRPr/>
            </a:pPr>
            <a:r>
              <a:rPr lang="en-US" sz="16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As: Employee &amp; Dependents in Firms ,Account &amp; Transaction in Banking Systems.</a:t>
            </a:r>
            <a:endParaRPr lang="en-US" sz="1600" noProof="0" dirty="0" smtClean="0">
              <a:ln>
                <a:noFill/>
              </a:ln>
              <a:effectLst/>
              <a:uLnTx/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" y="2631440"/>
            <a:ext cx="3392170" cy="10007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0145" y="2643505"/>
            <a:ext cx="3634105" cy="9632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105" y="445135"/>
            <a:ext cx="7157720" cy="572135"/>
          </a:xfrm>
        </p:spPr>
        <p:txBody>
          <a:bodyPr/>
          <a:p>
            <a:r>
              <a:rPr lang="en-US" sz="3000">
                <a:latin typeface="Times New Roman" panose="02020603050405020304" charset="0"/>
                <a:cs typeface="Times New Roman" panose="02020603050405020304" charset="0"/>
              </a:rPr>
              <a:t>Types of Attributes</a:t>
            </a:r>
            <a:br>
              <a:rPr lang="en-US" sz="3000"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en-US" sz="3000">
                <a:latin typeface="Times New Roman" panose="02020603050405020304" charset="0"/>
                <a:cs typeface="Times New Roman" panose="02020603050405020304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  <a:sym typeface="+mn-ea"/>
              </a:rPr>
              <a:t>Simple Attribute-&gt;SSN,Age,Gender,.......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  <a:sym typeface="+mn-ea"/>
              </a:rPr>
            </a:br>
            <a:br>
              <a:rPr lang="en-US" sz="3000">
                <a:latin typeface="Times New Roman" panose="02020603050405020304" charset="0"/>
                <a:cs typeface="Times New Roman" panose="02020603050405020304" charset="0"/>
              </a:rPr>
            </a:b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  <a:sym typeface="+mn-ea"/>
              </a:rPr>
              <a:t>Composite Attribute -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  <a:sym typeface="+mn-ea"/>
              </a:rPr>
              <a:t>&gt;Name(L_name,F_name), DOB(mm,dd,yy)</a:t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  <a:sym typeface="+mn-ea"/>
              </a:rPr>
            </a:b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  <a:sym typeface="+mn-ea"/>
              </a:rPr>
            </a:b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  <a:sym typeface="+mn-ea"/>
              </a:rPr>
              <a:t>Multi-valued Attribute -&gt; Phone Number , Address</a:t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  <a:sym typeface="+mn-ea"/>
              </a:rPr>
            </a:b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</a:rPr>
            </a:b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  <a:sym typeface="+mn-ea"/>
              </a:rPr>
              <a:t>Derived Attribute -&gt; Age (you can calculate it from DOB)</a:t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  <a:sym typeface="+mn-ea"/>
              </a:rPr>
            </a:b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</a:rPr>
            </a:b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  <a:sym typeface="+mn-ea"/>
              </a:rPr>
              <a:t>Complex Attribute -&gt;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  <a:sym typeface="+mn-ea"/>
              </a:rPr>
              <a:t>Multi-valued + Composite  ex:Address</a:t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  <a:sym typeface="+mn-ea"/>
              </a:rPr>
            </a:b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</a:rPr>
            </a:br>
            <a:endParaRPr lang="en-US" sz="2000" b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050" y="444960"/>
            <a:ext cx="4711320" cy="572400"/>
          </a:xfrm>
        </p:spPr>
        <p:txBody>
          <a:bodyPr/>
          <a:p>
            <a:r>
              <a:rPr lang="en-US" sz="3000">
                <a:latin typeface="Times New Roman" panose="02020603050405020304" charset="0"/>
                <a:cs typeface="Times New Roman" panose="02020603050405020304" charset="0"/>
              </a:rPr>
              <a:t>Relationship</a:t>
            </a:r>
            <a:endParaRPr lang="en-US" sz="3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464820" y="1348105"/>
            <a:ext cx="8295640" cy="25406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None/>
              <a:defRPr/>
            </a:pPr>
            <a:r>
              <a:rPr 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Relationship has three Properties:</a:t>
            </a:r>
            <a:endParaRPr lang="en-US" sz="2400" noProof="0" dirty="0" smtClean="0">
              <a:ln>
                <a:noFill/>
              </a:ln>
              <a:effectLst/>
              <a:uLnTx/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None/>
              <a:defRPr/>
            </a:pPr>
            <a:endParaRPr lang="en-US" sz="2000" noProof="0" dirty="0" smtClean="0">
              <a:ln>
                <a:noFill/>
              </a:ln>
              <a:effectLst/>
              <a:uLnTx/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None/>
              <a:defRPr/>
            </a:pPr>
            <a:r>
              <a:rPr lang="en-US" sz="200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Degree of Relationships -&gt; Unary,Binary,Ternary</a:t>
            </a:r>
            <a:endParaRPr lang="en-US" sz="2000" noProof="0" dirty="0">
              <a:ln>
                <a:noFill/>
              </a:ln>
              <a:effectLst/>
              <a:uLnTx/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None/>
              <a:defRPr/>
            </a:pPr>
            <a:endParaRPr lang="en-US" sz="2000" noProof="0" dirty="0">
              <a:ln>
                <a:noFill/>
              </a:ln>
              <a:effectLst/>
              <a:uLnTx/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None/>
              <a:defRPr/>
            </a:pPr>
            <a:r>
              <a:rPr lang="en-GB" sz="200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Cardinality</a:t>
            </a:r>
            <a:r>
              <a:rPr lang="en-US" sz="20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2000" noProof="0" dirty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Constraint -&gt; 1:1 , 1:M , M:M</a:t>
            </a:r>
            <a:endParaRPr lang="en-US" sz="2000" noProof="0" dirty="0">
              <a:ln>
                <a:noFill/>
              </a:ln>
              <a:effectLst/>
              <a:uLnTx/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None/>
              <a:defRPr/>
            </a:pPr>
            <a:endParaRPr lang="en-US" sz="2000" noProof="0" dirty="0">
              <a:ln>
                <a:noFill/>
              </a:ln>
              <a:effectLst/>
              <a:uLnTx/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None/>
              <a:defRPr/>
            </a:pPr>
            <a:r>
              <a:rPr lang="en-US" sz="20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Participation Constraint -&gt; Total , Partial 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None/>
              <a:defRPr/>
            </a:pPr>
            <a:endParaRPr lang="en-US" sz="2000" noProof="0" dirty="0" smtClean="0">
              <a:ln>
                <a:noFill/>
              </a:ln>
              <a:effectLst/>
              <a:uLnTx/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660" y="444960"/>
            <a:ext cx="4711320" cy="572400"/>
          </a:xfrm>
        </p:spPr>
        <p:txBody>
          <a:bodyPr/>
          <a:p>
            <a:r>
              <a:rPr lang="en-US" sz="3000">
                <a:latin typeface="Times New Roman" panose="02020603050405020304" charset="0"/>
                <a:cs typeface="Times New Roman" panose="02020603050405020304" charset="0"/>
              </a:rPr>
              <a:t>Degree of Participation</a:t>
            </a:r>
            <a:br>
              <a:rPr lang="en-US" sz="3000">
                <a:latin typeface="Times New Roman" panose="02020603050405020304" charset="0"/>
                <a:cs typeface="Times New Roman" panose="02020603050405020304" charset="0"/>
              </a:rPr>
            </a:br>
            <a:endParaRPr lang="en-US" sz="3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467995" y="1059815"/>
            <a:ext cx="864489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Degree: number of entity types that participate in a relationship 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Three cases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Unary: 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between two instances of one entity type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Binary: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between the instances of two entity types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Ternary: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among the instances of three entity types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6868" name="Picture 4" descr="CAP1"/>
          <p:cNvPicPr>
            <a:picLocks noChangeAspect="1"/>
          </p:cNvPicPr>
          <p:nvPr/>
        </p:nvPicPr>
        <p:blipFill>
          <a:blip r:embed="rId1"/>
          <a:srcRect t="6897"/>
          <a:stretch>
            <a:fillRect/>
          </a:stretch>
        </p:blipFill>
        <p:spPr>
          <a:xfrm>
            <a:off x="539750" y="3220085"/>
            <a:ext cx="8153400" cy="13620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000">
                <a:latin typeface="Times New Roman" panose="02020603050405020304" charset="0"/>
                <a:cs typeface="Times New Roman" panose="02020603050405020304" charset="0"/>
              </a:rPr>
              <a:t>Cardinality</a:t>
            </a:r>
            <a:br>
              <a:rPr lang="en-US" sz="3000"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en-US" sz="3000">
                <a:latin typeface="Times New Roman" panose="02020603050405020304" charset="0"/>
                <a:cs typeface="Times New Roman" panose="02020603050405020304" charset="0"/>
              </a:rPr>
            </a:br>
            <a:endParaRPr lang="en-US" sz="3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323850" y="1419860"/>
            <a:ext cx="8345170" cy="25393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Char char=""/>
              <a:defRPr/>
            </a:pPr>
            <a:r>
              <a:rPr lang="en-US" sz="22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How many instances of one entity will or must be connected to a single instance from the other entities.</a:t>
            </a:r>
            <a:endParaRPr lang="en-US" sz="2200" noProof="0" dirty="0" smtClean="0">
              <a:ln>
                <a:noFill/>
              </a:ln>
              <a:effectLst/>
              <a:uLnTx/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Char char=""/>
              <a:defRPr/>
            </a:pP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20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    </a:t>
            </a:r>
            <a:r>
              <a:rPr lang="en-US" sz="2000" b="1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One-One Relationship   </a:t>
            </a:r>
            <a:endParaRPr lang="en-US" sz="2000" b="1" noProof="0" dirty="0" smtClean="0">
              <a:ln>
                <a:noFill/>
              </a:ln>
              <a:effectLst/>
              <a:uLnTx/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None/>
              <a:defRPr/>
            </a:pPr>
            <a:endParaRPr lang="en-US" sz="2000" b="1" noProof="0" dirty="0" smtClean="0">
              <a:ln>
                <a:noFill/>
              </a:ln>
              <a:effectLst/>
              <a:uLnTx/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000" b="1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One-Many Relationship  </a:t>
            </a:r>
            <a:endParaRPr lang="en-US" sz="2000" b="1" noProof="0" dirty="0" smtClean="0">
              <a:ln>
                <a:noFill/>
              </a:ln>
              <a:effectLst/>
              <a:uLnTx/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000" b="1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en-US" sz="2000" b="1" noProof="0" dirty="0" smtClean="0">
              <a:ln>
                <a:noFill/>
              </a:ln>
              <a:effectLst/>
              <a:uLnTx/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000" b="1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Many- Many Relationship  </a:t>
            </a:r>
            <a:endParaRPr lang="en-US" sz="2000" b="1" noProof="0" dirty="0" smtClean="0">
              <a:ln>
                <a:noFill/>
              </a:ln>
              <a:effectLst/>
              <a:uLnTx/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5665" y="2341245"/>
            <a:ext cx="3234055" cy="38544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145" y="2908300"/>
            <a:ext cx="3233420" cy="3746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145" y="3508375"/>
            <a:ext cx="3203575" cy="4356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000">
                <a:latin typeface="Times New Roman" panose="02020603050405020304" charset="0"/>
                <a:cs typeface="Times New Roman" panose="02020603050405020304" charset="0"/>
              </a:rPr>
              <a:t>Participation</a:t>
            </a:r>
            <a:endParaRPr lang="en-US" sz="3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11505" y="1131570"/>
            <a:ext cx="8301355" cy="2461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An employee MUST work for a department </a:t>
            </a:r>
            <a:br>
              <a:rPr lang="en-US" altLang="en-US"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An employee entity can exist only if it participates in a WORKS_FOR relationship instance </a:t>
            </a:r>
            <a:br>
              <a:rPr lang="en-US" altLang="en-US"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altLang="en-US" sz="22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So this participation is TOTAL </a:t>
            </a:r>
            <a:br>
              <a:rPr lang="en-US" altLang="en-US"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br>
              <a:rPr lang="en-US" altLang="en-US"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Only some employees manage departments </a:t>
            </a:r>
            <a:br>
              <a:rPr lang="en-US" altLang="en-US"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altLang="en-US" sz="22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participation is PARTIAL </a:t>
            </a:r>
            <a:endParaRPr lang="en-US" altLang="en-US" sz="2200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000">
                <a:latin typeface="Times New Roman" panose="02020603050405020304" charset="0"/>
                <a:cs typeface="Times New Roman" panose="02020603050405020304" charset="0"/>
              </a:rPr>
              <a:t>Participation</a:t>
            </a:r>
            <a:endParaRPr lang="en-US" sz="3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/>
          </a:p>
        </p:txBody>
      </p:sp>
      <p:grpSp>
        <p:nvGrpSpPr>
          <p:cNvPr id="46083" name="Group 6"/>
          <p:cNvGrpSpPr/>
          <p:nvPr/>
        </p:nvGrpSpPr>
        <p:grpSpPr>
          <a:xfrm>
            <a:off x="611505" y="1194435"/>
            <a:ext cx="7554595" cy="1066800"/>
            <a:chOff x="457200" y="2286000"/>
            <a:chExt cx="8534400" cy="1066800"/>
          </a:xfrm>
        </p:grpSpPr>
        <p:sp>
          <p:nvSpPr>
            <p:cNvPr id="46085" name="Rectangle 3"/>
            <p:cNvSpPr/>
            <p:nvPr/>
          </p:nvSpPr>
          <p:spPr>
            <a:xfrm>
              <a:off x="457200" y="2438400"/>
              <a:ext cx="2362200" cy="762000"/>
            </a:xfrm>
            <a:prstGeom prst="rect">
              <a:avLst/>
            </a:prstGeom>
            <a:noFill/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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Ø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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Ø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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latin typeface="Arial" panose="020B0604020202020204" pitchFamily="34" charset="0"/>
                  <a:ea typeface="MS PGothic" panose="020B0600070205080204" pitchFamily="34" charset="-128"/>
                </a:rPr>
                <a:t>Employee</a:t>
              </a:r>
              <a:endParaRPr lang="en-US" altLang="en-US" sz="1800" dirty="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grpSp>
          <p:nvGrpSpPr>
            <p:cNvPr id="46086" name="Group 23"/>
            <p:cNvGrpSpPr/>
            <p:nvPr/>
          </p:nvGrpSpPr>
          <p:grpSpPr>
            <a:xfrm>
              <a:off x="2819400" y="2286000"/>
              <a:ext cx="6172200" cy="1066800"/>
              <a:chOff x="2819400" y="2286000"/>
              <a:chExt cx="6172200" cy="1066800"/>
            </a:xfrm>
          </p:grpSpPr>
          <p:sp>
            <p:nvSpPr>
              <p:cNvPr id="46087" name="Line 4"/>
              <p:cNvSpPr/>
              <p:nvPr/>
            </p:nvSpPr>
            <p:spPr>
              <a:xfrm>
                <a:off x="2819400" y="2438400"/>
                <a:ext cx="0" cy="762000"/>
              </a:xfrm>
              <a:prstGeom prst="line">
                <a:avLst/>
              </a:prstGeom>
              <a:ln w="158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6088" name="AutoShape 5"/>
              <p:cNvSpPr/>
              <p:nvPr/>
            </p:nvSpPr>
            <p:spPr>
              <a:xfrm>
                <a:off x="3429000" y="2286000"/>
                <a:ext cx="2209800" cy="1066800"/>
              </a:xfrm>
              <a:prstGeom prst="flowChartDecision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 3" panose="05040102010807070707" pitchFamily="18" charset="2"/>
                  <a:buChar char="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Ø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 3" panose="05040102010807070707" pitchFamily="18" charset="2"/>
                  <a:buChar char="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Ø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 3" panose="05040102010807070707" pitchFamily="18" charset="2"/>
                  <a:buChar char="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dirty="0">
                    <a:latin typeface="Arial" panose="020B0604020202020204" pitchFamily="34" charset="0"/>
                    <a:ea typeface="MS PGothic" panose="020B0600070205080204" pitchFamily="34" charset="-128"/>
                  </a:rPr>
                  <a:t>Has</a:t>
                </a:r>
                <a:endParaRPr lang="en-US" altLang="en-US" sz="1800" dirty="0"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46089" name="Rectangle 7"/>
              <p:cNvSpPr/>
              <p:nvPr/>
            </p:nvSpPr>
            <p:spPr>
              <a:xfrm>
                <a:off x="6553200" y="2438400"/>
                <a:ext cx="2438400" cy="762000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 3" panose="05040102010807070707" pitchFamily="18" charset="2"/>
                  <a:buChar char="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Ø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 3" panose="05040102010807070707" pitchFamily="18" charset="2"/>
                  <a:buChar char="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Ø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 3" panose="05040102010807070707" pitchFamily="18" charset="2"/>
                  <a:buChar char="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dirty="0">
                    <a:latin typeface="Arial" panose="020B0604020202020204" pitchFamily="34" charset="0"/>
                    <a:ea typeface="MS PGothic" panose="020B0600070205080204" pitchFamily="34" charset="-128"/>
                  </a:rPr>
                  <a:t>Car</a:t>
                </a:r>
                <a:endParaRPr lang="en-US" altLang="en-US" sz="1800" dirty="0"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cxnSp>
            <p:nvCxnSpPr>
              <p:cNvPr id="46090" name="Straight Connector 12"/>
              <p:cNvCxnSpPr>
                <a:endCxn id="46088" idx="1"/>
              </p:cNvCxnSpPr>
              <p:nvPr/>
            </p:nvCxnSpPr>
            <p:spPr>
              <a:xfrm>
                <a:off x="2819400" y="2819400"/>
                <a:ext cx="609600" cy="1588"/>
              </a:xfrm>
              <a:prstGeom prst="line">
                <a:avLst/>
              </a:prstGeom>
              <a:ln w="158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46091" name="Straight Connector 13"/>
              <p:cNvCxnSpPr/>
              <p:nvPr/>
            </p:nvCxnSpPr>
            <p:spPr>
              <a:xfrm>
                <a:off x="5562600" y="2741612"/>
                <a:ext cx="990600" cy="3144"/>
              </a:xfrm>
              <a:prstGeom prst="line">
                <a:avLst/>
              </a:prstGeom>
              <a:ln w="158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46092" name="Straight Connector 14"/>
              <p:cNvCxnSpPr/>
              <p:nvPr/>
            </p:nvCxnSpPr>
            <p:spPr>
              <a:xfrm>
                <a:off x="5562600" y="2819400"/>
                <a:ext cx="990600" cy="3144"/>
              </a:xfrm>
              <a:prstGeom prst="line">
                <a:avLst/>
              </a:prstGeom>
              <a:ln w="158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</p:grpSp>
      </p:grpSp>
      <p:sp>
        <p:nvSpPr>
          <p:cNvPr id="4" name="Text Box 3"/>
          <p:cNvSpPr txBox="1"/>
          <p:nvPr/>
        </p:nvSpPr>
        <p:spPr>
          <a:xfrm>
            <a:off x="2124075" y="2715895"/>
            <a:ext cx="4572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ctr">
              <a:spcBef>
                <a:spcPct val="0"/>
              </a:spcBef>
              <a:buClrTx/>
              <a:buSzTx/>
              <a:buFontTx/>
              <a:buChar char="-"/>
            </a:pPr>
            <a:r>
              <a:rPr lang="en-US" altLang="en-US" dirty="0">
                <a:latin typeface="Times New Roman" panose="02020603050405020304" charset="0"/>
                <a:ea typeface="MS PGothic" panose="020B0600070205080204" pitchFamily="34" charset="-128"/>
                <a:cs typeface="Times New Roman" panose="02020603050405020304" charset="0"/>
                <a:sym typeface="+mn-ea"/>
              </a:rPr>
              <a:t>An Employee 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charset="0"/>
                <a:ea typeface="MS PGothic" panose="020B0600070205080204" pitchFamily="34" charset="-128"/>
                <a:cs typeface="Times New Roman" panose="02020603050405020304" charset="0"/>
                <a:sym typeface="+mn-ea"/>
              </a:rPr>
              <a:t>may</a:t>
            </a:r>
            <a:r>
              <a:rPr lang="en-US" altLang="en-US" dirty="0">
                <a:latin typeface="Times New Roman" panose="02020603050405020304" charset="0"/>
                <a:ea typeface="MS PGothic" panose="020B0600070205080204" pitchFamily="34" charset="-128"/>
                <a:cs typeface="Times New Roman" panose="02020603050405020304" charset="0"/>
                <a:sym typeface="+mn-ea"/>
              </a:rPr>
              <a:t> have a car.</a:t>
            </a:r>
            <a:endParaRPr lang="en-US" altLang="en-US" sz="1800" dirty="0">
              <a:latin typeface="Times New Roman" panose="02020603050405020304" charset="0"/>
              <a:ea typeface="MS PGothic" panose="020B0600070205080204" pitchFamily="34" charset="-128"/>
              <a:cs typeface="Times New Roman" panose="02020603050405020304" charset="0"/>
            </a:endParaRP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Char char="-"/>
            </a:pPr>
            <a:r>
              <a:rPr lang="en-US" altLang="en-US" dirty="0">
                <a:latin typeface="Times New Roman" panose="02020603050405020304" charset="0"/>
                <a:ea typeface="MS PGothic" panose="020B0600070205080204" pitchFamily="34" charset="-128"/>
                <a:cs typeface="Times New Roman" panose="02020603050405020304" charset="0"/>
                <a:sym typeface="+mn-ea"/>
              </a:rPr>
              <a:t>A Car 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charset="0"/>
                <a:ea typeface="MS PGothic" panose="020B0600070205080204" pitchFamily="34" charset="-128"/>
                <a:cs typeface="Times New Roman" panose="02020603050405020304" charset="0"/>
                <a:sym typeface="+mn-ea"/>
              </a:rPr>
              <a:t>must</a:t>
            </a:r>
            <a:r>
              <a:rPr lang="en-US" altLang="en-US" dirty="0">
                <a:latin typeface="Times New Roman" panose="02020603050405020304" charset="0"/>
                <a:ea typeface="MS PGothic" panose="020B0600070205080204" pitchFamily="34" charset="-128"/>
                <a:cs typeface="Times New Roman" panose="02020603050405020304" charset="0"/>
                <a:sym typeface="+mn-ea"/>
              </a:rPr>
              <a:t> be assigned to particular employee</a:t>
            </a:r>
            <a:endParaRPr lang="en-US" altLang="en-US" dirty="0">
              <a:latin typeface="Times New Roman" panose="02020603050405020304" charset="0"/>
              <a:ea typeface="MS PGothic" panose="020B0600070205080204" pitchFamily="34" charset="-128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/>
          </a:p>
        </p:txBody>
      </p:sp>
      <p:grpSp>
        <p:nvGrpSpPr>
          <p:cNvPr id="47108" name="Group 6"/>
          <p:cNvGrpSpPr/>
          <p:nvPr/>
        </p:nvGrpSpPr>
        <p:grpSpPr>
          <a:xfrm>
            <a:off x="827405" y="987425"/>
            <a:ext cx="7290435" cy="887095"/>
            <a:chOff x="457200" y="2286000"/>
            <a:chExt cx="8534400" cy="1066800"/>
          </a:xfrm>
        </p:grpSpPr>
        <p:sp>
          <p:nvSpPr>
            <p:cNvPr id="47109" name="Rectangle 3"/>
            <p:cNvSpPr/>
            <p:nvPr/>
          </p:nvSpPr>
          <p:spPr>
            <a:xfrm>
              <a:off x="457200" y="2438400"/>
              <a:ext cx="2362200" cy="762000"/>
            </a:xfrm>
            <a:prstGeom prst="rect">
              <a:avLst/>
            </a:prstGeom>
            <a:noFill/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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Ø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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Ø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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latin typeface="Arial" panose="020B0604020202020204" pitchFamily="34" charset="0"/>
                  <a:ea typeface="MS PGothic" panose="020B0600070205080204" pitchFamily="34" charset="-128"/>
                </a:rPr>
                <a:t>Department</a:t>
              </a:r>
              <a:endParaRPr lang="en-US" altLang="en-US" sz="1800" dirty="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grpSp>
          <p:nvGrpSpPr>
            <p:cNvPr id="47110" name="Group 23"/>
            <p:cNvGrpSpPr/>
            <p:nvPr/>
          </p:nvGrpSpPr>
          <p:grpSpPr>
            <a:xfrm>
              <a:off x="2819400" y="2286000"/>
              <a:ext cx="6172200" cy="1066800"/>
              <a:chOff x="2819400" y="2286000"/>
              <a:chExt cx="6172200" cy="1066800"/>
            </a:xfrm>
          </p:grpSpPr>
          <p:sp>
            <p:nvSpPr>
              <p:cNvPr id="47111" name="Line 4"/>
              <p:cNvSpPr/>
              <p:nvPr/>
            </p:nvSpPr>
            <p:spPr>
              <a:xfrm>
                <a:off x="2819400" y="2438400"/>
                <a:ext cx="0" cy="762000"/>
              </a:xfrm>
              <a:prstGeom prst="line">
                <a:avLst/>
              </a:prstGeom>
              <a:ln w="158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12" name="AutoShape 5"/>
              <p:cNvSpPr/>
              <p:nvPr/>
            </p:nvSpPr>
            <p:spPr>
              <a:xfrm>
                <a:off x="3429000" y="2286000"/>
                <a:ext cx="2209800" cy="1066800"/>
              </a:xfrm>
              <a:prstGeom prst="flowChartDecision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 3" panose="05040102010807070707" pitchFamily="18" charset="2"/>
                  <a:buChar char="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Ø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 3" panose="05040102010807070707" pitchFamily="18" charset="2"/>
                  <a:buChar char="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Ø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 3" panose="05040102010807070707" pitchFamily="18" charset="2"/>
                  <a:buChar char="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dirty="0">
                    <a:latin typeface="Arial" panose="020B0604020202020204" pitchFamily="34" charset="0"/>
                    <a:ea typeface="MS PGothic" panose="020B0600070205080204" pitchFamily="34" charset="-128"/>
                  </a:rPr>
                  <a:t>Hire</a:t>
                </a:r>
                <a:endParaRPr lang="en-US" altLang="en-US" sz="1800" dirty="0"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47113" name="Rectangle 7"/>
              <p:cNvSpPr/>
              <p:nvPr/>
            </p:nvSpPr>
            <p:spPr>
              <a:xfrm>
                <a:off x="6553200" y="2438400"/>
                <a:ext cx="2438400" cy="762000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 3" panose="05040102010807070707" pitchFamily="18" charset="2"/>
                  <a:buChar char="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Ø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 3" panose="05040102010807070707" pitchFamily="18" charset="2"/>
                  <a:buChar char="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Ø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 3" panose="05040102010807070707" pitchFamily="18" charset="2"/>
                  <a:buChar char="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dirty="0">
                    <a:latin typeface="Arial" panose="020B0604020202020204" pitchFamily="34" charset="0"/>
                    <a:ea typeface="MS PGothic" panose="020B0600070205080204" pitchFamily="34" charset="-128"/>
                  </a:rPr>
                  <a:t>Employee</a:t>
                </a:r>
                <a:endParaRPr lang="en-US" altLang="en-US" sz="1800" dirty="0"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cxnSp>
            <p:nvCxnSpPr>
              <p:cNvPr id="47114" name="Straight Connector 12"/>
              <p:cNvCxnSpPr>
                <a:endCxn id="47112" idx="1"/>
              </p:cNvCxnSpPr>
              <p:nvPr/>
            </p:nvCxnSpPr>
            <p:spPr>
              <a:xfrm>
                <a:off x="2819400" y="2819400"/>
                <a:ext cx="609600" cy="1588"/>
              </a:xfrm>
              <a:prstGeom prst="line">
                <a:avLst/>
              </a:prstGeom>
              <a:ln w="158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47115" name="Straight Connector 13"/>
              <p:cNvCxnSpPr/>
              <p:nvPr/>
            </p:nvCxnSpPr>
            <p:spPr>
              <a:xfrm>
                <a:off x="5562600" y="2741612"/>
                <a:ext cx="990600" cy="3144"/>
              </a:xfrm>
              <a:prstGeom prst="line">
                <a:avLst/>
              </a:prstGeom>
              <a:ln w="158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47116" name="Straight Connector 14"/>
              <p:cNvCxnSpPr/>
              <p:nvPr/>
            </p:nvCxnSpPr>
            <p:spPr>
              <a:xfrm>
                <a:off x="5562600" y="2819400"/>
                <a:ext cx="990600" cy="3144"/>
              </a:xfrm>
              <a:prstGeom prst="line">
                <a:avLst/>
              </a:prstGeom>
              <a:ln w="158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</p:grpSp>
      </p:grpSp>
      <p:sp>
        <p:nvSpPr>
          <p:cNvPr id="4" name="Text Box 3"/>
          <p:cNvSpPr txBox="1"/>
          <p:nvPr/>
        </p:nvSpPr>
        <p:spPr>
          <a:xfrm>
            <a:off x="1259840" y="2428240"/>
            <a:ext cx="6382385" cy="16535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  <a:sym typeface="+mn-ea"/>
              </a:rPr>
              <a:t>- A department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+mn-ea"/>
              </a:rPr>
              <a:t>may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  <a:sym typeface="+mn-ea"/>
              </a:rPr>
              <a:t> hire many employees </a:t>
            </a:r>
            <a:r>
              <a:rPr lang="en-US" altLang="en-US" dirty="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  <a:sym typeface="+mn-ea"/>
              </a:rPr>
              <a:t>( Zero or more)</a:t>
            </a:r>
            <a:endParaRPr lang="en-US" altLang="en-US" sz="1800" dirty="0">
              <a:solidFill>
                <a:schemeClr val="accent1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Char char="-"/>
            </a:pP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  <a:sym typeface="+mn-ea"/>
              </a:rPr>
              <a:t> An employee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+mn-ea"/>
              </a:rPr>
              <a:t>must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  <a:sym typeface="+mn-ea"/>
              </a:rPr>
              <a:t> be employed by a department</a:t>
            </a:r>
            <a:endParaRPr lang="en-US" altLang="en-US" sz="1800" dirty="0">
              <a:latin typeface="Arial" panose="020B0604020202020204" pitchFamily="34" charset="0"/>
              <a:ea typeface="MS PGothic" panose="020B0600070205080204" pitchFamily="34" charset="-128"/>
            </a:endParaRP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  <a:sym typeface="+mn-ea"/>
              </a:rPr>
              <a:t>(Department membership is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+mn-ea"/>
              </a:rPr>
              <a:t>Optional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  <a:sym typeface="+mn-ea"/>
              </a:rPr>
              <a:t>, Employee membership is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+mn-ea"/>
              </a:rPr>
              <a:t>Mandatory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  <a:sym typeface="+mn-ea"/>
              </a:rPr>
              <a:t>)</a:t>
            </a:r>
            <a:endParaRPr lang="en-US" altLang="en-US" dirty="0">
              <a:latin typeface="Arial" panose="020B0604020202020204" pitchFamily="34" charset="0"/>
              <a:ea typeface="MS PGothic" panose="020B0600070205080204" pitchFamily="34" charset="-128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000">
                <a:latin typeface="Times New Roman" panose="02020603050405020304" charset="0"/>
                <a:cs typeface="Times New Roman" panose="02020603050405020304" charset="0"/>
              </a:rPr>
              <a:t>Keys</a:t>
            </a:r>
            <a:endParaRPr lang="en-US" sz="3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395605" y="1203960"/>
            <a:ext cx="457200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Char char=""/>
              <a:defRPr/>
            </a:pPr>
            <a:r>
              <a:rPr 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Different Types of Keys: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40005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+mj-lt"/>
              <a:buNone/>
              <a:defRPr/>
            </a:pPr>
            <a:r>
              <a:rPr lang="en-US" sz="2000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Candidate Key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40005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+mj-lt"/>
              <a:buNone/>
              <a:defRPr/>
            </a:pPr>
            <a:r>
              <a:rPr lang="en-US" sz="2000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Primary Key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40005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+mj-lt"/>
              <a:buNone/>
              <a:defRPr/>
            </a:pPr>
            <a:r>
              <a:rPr lang="en-US" sz="2000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Foreign Key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40005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+mj-lt"/>
              <a:buNone/>
              <a:defRPr/>
            </a:pPr>
            <a:r>
              <a:rPr lang="en-US" sz="2000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Composite Key</a:t>
            </a:r>
            <a:endParaRPr lang="en-US" sz="2000" noProof="0" dirty="0" smtClean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0005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+mj-lt"/>
              <a:buNone/>
              <a:defRPr/>
            </a:pPr>
            <a:r>
              <a:rPr lang="en-US" sz="2000" b="1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Self Study:</a:t>
            </a:r>
            <a:endParaRPr kumimoji="0" lang="en-US" sz="20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40005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+mj-lt"/>
              <a:buNone/>
              <a:defRPr/>
            </a:pPr>
            <a:r>
              <a:rPr lang="en-US" sz="20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Partial Key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40005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+mj-lt"/>
              <a:buNone/>
              <a:defRPr/>
            </a:pPr>
            <a:r>
              <a:rPr lang="en-US" sz="20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Alternate key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40005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+mj-lt"/>
              <a:buNone/>
              <a:defRPr/>
            </a:pPr>
            <a:r>
              <a:rPr lang="en-US" sz="2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Super </a:t>
            </a:r>
            <a:r>
              <a:rPr lang="en-US" sz="20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Key</a:t>
            </a:r>
            <a:endParaRPr lang="en-US" sz="200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/>
          </a:p>
        </p:txBody>
      </p:sp>
      <p:pic>
        <p:nvPicPr>
          <p:cNvPr id="13315" name="Picture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985" y="577215"/>
            <a:ext cx="6408420" cy="39890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itle 3"/>
          <p:cNvSpPr/>
          <p:nvPr>
            <p:ph type="title"/>
          </p:nvPr>
        </p:nvSpPr>
        <p:spPr>
          <a:xfrm>
            <a:off x="179525" y="339840"/>
            <a:ext cx="7452720" cy="1290960"/>
          </a:xfrm>
        </p:spPr>
        <p:txBody>
          <a:bodyPr/>
          <a:p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KEYS ex: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325" name="Oval 4"/>
          <p:cNvSpPr/>
          <p:nvPr/>
        </p:nvSpPr>
        <p:spPr>
          <a:xfrm>
            <a:off x="1258888" y="627063"/>
            <a:ext cx="1743704" cy="771515"/>
          </a:xfrm>
          <a:prstGeom prst="ellipse">
            <a:avLst/>
          </a:prstGeom>
          <a:noFill/>
          <a:ln w="28575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Char char="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Char char="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Char char="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endParaRPr sz="1800" dirty="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" name="Oval 4"/>
          <p:cNvSpPr/>
          <p:nvPr/>
        </p:nvSpPr>
        <p:spPr>
          <a:xfrm>
            <a:off x="3347720" y="1779270"/>
            <a:ext cx="1531620" cy="726440"/>
          </a:xfrm>
          <a:prstGeom prst="ellipse">
            <a:avLst/>
          </a:prstGeom>
          <a:noFill/>
          <a:ln w="28575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Char char="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Char char="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Char char="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endParaRPr sz="1800" dirty="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" name="Oval 4"/>
          <p:cNvSpPr/>
          <p:nvPr/>
        </p:nvSpPr>
        <p:spPr>
          <a:xfrm>
            <a:off x="1419225" y="2654935"/>
            <a:ext cx="2088515" cy="944245"/>
          </a:xfrm>
          <a:prstGeom prst="ellipse">
            <a:avLst/>
          </a:prstGeom>
          <a:noFill/>
          <a:ln w="28575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Char char="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Char char="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Char char="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endParaRPr sz="1800" dirty="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760" y="444960"/>
            <a:ext cx="4711320" cy="572400"/>
          </a:xfrm>
        </p:spPr>
        <p:txBody>
          <a:bodyPr/>
          <a:p>
            <a:r>
              <a:rPr lang="en-US" sz="3500">
                <a:latin typeface="Times New Roman" panose="02020603050405020304" charset="0"/>
                <a:cs typeface="Times New Roman" panose="02020603050405020304" charset="0"/>
              </a:rPr>
              <a:t>Practical Problem</a:t>
            </a:r>
            <a:endParaRPr lang="en-US" sz="35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/>
          </a:p>
        </p:txBody>
      </p:sp>
      <p:pic>
        <p:nvPicPr>
          <p:cNvPr id="55299" name="Picture 4" descr="fig03_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411480"/>
            <a:ext cx="8231505" cy="46031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539825" y="339270"/>
            <a:ext cx="7448040" cy="1294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Vidaloka"/>
                <a:cs typeface="Times New Roman" panose="02020603050405020304" charset="0"/>
              </a:rPr>
              <a:t>Steps to Design ERD</a:t>
            </a:r>
            <a:b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Vidaloka"/>
                <a:cs typeface="Times New Roman" panose="02020603050405020304" charset="0"/>
              </a:rPr>
            </a:br>
            <a:b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Vidaloka"/>
                <a:cs typeface="Times New Roman" panose="02020603050405020304" charset="0"/>
              </a:rPr>
            </a:br>
            <a:endParaRPr lang="en-US" sz="4000" b="0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ea typeface="Vidaloka"/>
              <a:cs typeface="Times New Roman" panose="02020603050405020304" charset="0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 type="subTitle"/>
          </p:nvPr>
        </p:nvSpPr>
        <p:spPr>
          <a:xfrm>
            <a:off x="1475740" y="1059815"/>
            <a:ext cx="5702300" cy="260540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25000"/>
          </a:bodyPr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7200" b="0" u="none" strike="noStrike">
                <a:solidFill>
                  <a:schemeClr val="dk2"/>
                </a:solidFill>
                <a:effectLst/>
                <a:uFillTx/>
                <a:latin typeface="Times New Roman" panose="02020603050405020304" charset="0"/>
                <a:ea typeface="Montserrat"/>
                <a:cs typeface="Times New Roman" panose="02020603050405020304" charset="0"/>
              </a:rPr>
              <a:t>1. Identify entities , </a:t>
            </a:r>
            <a:r>
              <a:rPr lang="en-US" sz="7200">
                <a:solidFill>
                  <a:schemeClr val="dk2"/>
                </a:solidFill>
                <a:effectLst/>
                <a:uFillTx/>
                <a:latin typeface="Times New Roman" panose="02020603050405020304" charset="0"/>
                <a:ea typeface="Montserrat"/>
                <a:cs typeface="Times New Roman" panose="02020603050405020304" charset="0"/>
                <a:sym typeface="+mn-ea"/>
              </a:rPr>
              <a:t>Define attributes for each </a:t>
            </a:r>
            <a:r>
              <a:rPr lang="en-US" sz="7200">
                <a:solidFill>
                  <a:schemeClr val="dk2"/>
                </a:solidFill>
                <a:effectLst/>
                <a:uFillTx/>
                <a:latin typeface="Times New Roman" panose="02020603050405020304" charset="0"/>
                <a:ea typeface="Montserrat"/>
                <a:cs typeface="Times New Roman" panose="02020603050405020304" charset="0"/>
                <a:sym typeface="+mn-ea"/>
              </a:rPr>
              <a:t>entity</a:t>
            </a:r>
            <a:r>
              <a:rPr lang="en-US" sz="7200" b="0" u="none" strike="noStrike">
                <a:solidFill>
                  <a:schemeClr val="dk2"/>
                </a:solidFill>
                <a:effectLst/>
                <a:uFillTx/>
                <a:latin typeface="Times New Roman" panose="02020603050405020304" charset="0"/>
                <a:ea typeface="Montserrat"/>
                <a:cs typeface="Times New Roman" panose="02020603050405020304" charset="0"/>
                <a:sym typeface="+mn-ea"/>
              </a:rPr>
              <a:t>. </a:t>
            </a:r>
            <a:r>
              <a:rPr lang="en-US" sz="7200">
                <a:solidFill>
                  <a:schemeClr val="dk2"/>
                </a:solidFill>
                <a:effectLst/>
                <a:uFillTx/>
                <a:latin typeface="Times New Roman" panose="02020603050405020304" charset="0"/>
                <a:ea typeface="Montserrat"/>
                <a:cs typeface="Times New Roman" panose="02020603050405020304" charset="0"/>
                <a:sym typeface="+mn-ea"/>
              </a:rPr>
              <a:t> </a:t>
            </a:r>
            <a:r>
              <a:rPr lang="en-US" sz="7200" b="0" u="none" strike="noStrike">
                <a:solidFill>
                  <a:schemeClr val="dk2"/>
                </a:solidFill>
                <a:effectLst/>
                <a:uFillTx/>
                <a:latin typeface="Times New Roman" panose="02020603050405020304" charset="0"/>
                <a:ea typeface="Montserrat"/>
                <a:cs typeface="Times New Roman" panose="02020603050405020304" charset="0"/>
              </a:rPr>
              <a:t> 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7200" b="0" u="none" strike="noStrike">
                <a:solidFill>
                  <a:schemeClr val="dk2"/>
                </a:solidFill>
                <a:effectLst/>
                <a:uFillTx/>
                <a:latin typeface="Times New Roman" panose="02020603050405020304" charset="0"/>
                <a:ea typeface="Montserrat"/>
                <a:cs typeface="Times New Roman" panose="02020603050405020304" charset="0"/>
              </a:rPr>
              <a:t>2. Choose a </a:t>
            </a:r>
            <a:r>
              <a:rPr lang="en-US" sz="7200" b="0" i="1" u="none" strike="noStrike">
                <a:solidFill>
                  <a:schemeClr val="dk2"/>
                </a:solidFill>
                <a:effectLst/>
                <a:uFillTx/>
                <a:latin typeface="Times New Roman" panose="02020603050405020304" charset="0"/>
                <a:ea typeface="Montserrat"/>
                <a:cs typeface="Times New Roman" panose="02020603050405020304" charset="0"/>
              </a:rPr>
              <a:t>Primary Key</a:t>
            </a:r>
            <a:r>
              <a:rPr lang="en-US" sz="7200" b="0" u="none" strike="noStrike">
                <a:solidFill>
                  <a:schemeClr val="dk2"/>
                </a:solidFill>
                <a:effectLst/>
                <a:uFillTx/>
                <a:latin typeface="Times New Roman" panose="02020603050405020304" charset="0"/>
                <a:ea typeface="Montserrat"/>
                <a:cs typeface="Times New Roman" panose="02020603050405020304" charset="0"/>
              </a:rPr>
              <a:t> for unique identification. 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7200" b="0" u="none" strike="noStrike">
                <a:solidFill>
                  <a:schemeClr val="dk2"/>
                </a:solidFill>
                <a:effectLst/>
                <a:uFillTx/>
                <a:latin typeface="Times New Roman" panose="02020603050405020304" charset="0"/>
                <a:ea typeface="Montserrat"/>
                <a:cs typeface="Times New Roman" panose="02020603050405020304" charset="0"/>
              </a:rPr>
              <a:t>3. Define relationships between entities. 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7200" b="0" u="none" strike="noStrike">
                <a:solidFill>
                  <a:schemeClr val="dk2"/>
                </a:solidFill>
                <a:effectLst/>
                <a:uFillTx/>
                <a:latin typeface="Times New Roman" panose="02020603050405020304" charset="0"/>
                <a:ea typeface="Montserrat"/>
                <a:cs typeface="Times New Roman" panose="02020603050405020304" charset="0"/>
              </a:rPr>
              <a:t>4. Define Participation. </a:t>
            </a:r>
            <a:endParaRPr lang="en-US" sz="7200" b="0" u="none" strike="noStrike">
              <a:solidFill>
                <a:schemeClr val="dk2"/>
              </a:solidFill>
              <a:effectLst/>
              <a:uFillTx/>
              <a:latin typeface="Times New Roman" panose="02020603050405020304" charset="0"/>
              <a:ea typeface="Montserrat"/>
              <a:cs typeface="Times New Roman" panose="02020603050405020304" charset="0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7200" b="0" u="none" strike="noStrike">
                <a:solidFill>
                  <a:schemeClr val="dk2"/>
                </a:solidFill>
                <a:effectLst/>
                <a:uFillTx/>
                <a:latin typeface="Times New Roman" panose="02020603050405020304" charset="0"/>
                <a:ea typeface="Montserrat"/>
                <a:cs typeface="Times New Roman" panose="02020603050405020304" charset="0"/>
              </a:rPr>
              <a:t>5-Define Cardinality.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7200" b="0" u="none" strike="noStrike">
                <a:solidFill>
                  <a:schemeClr val="dk2"/>
                </a:solidFill>
                <a:effectLst/>
                <a:uFillTx/>
                <a:latin typeface="Times New Roman" panose="02020603050405020304" charset="0"/>
                <a:ea typeface="Montserrat"/>
                <a:cs typeface="Times New Roman" panose="02020603050405020304" charset="0"/>
              </a:rPr>
              <a:t>This structured approach ensures comprehensive and clear ERD creation.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/>
          </a:p>
        </p:txBody>
      </p:sp>
      <p:sp>
        <p:nvSpPr>
          <p:cNvPr id="6" name="Title 5"/>
          <p:cNvSpPr/>
          <p:nvPr>
            <p:ph type="title"/>
          </p:nvPr>
        </p:nvSpPr>
        <p:spPr>
          <a:xfrm>
            <a:off x="2268275" y="555450"/>
            <a:ext cx="4711320" cy="572400"/>
          </a:xfrm>
        </p:spPr>
        <p:txBody>
          <a:bodyPr/>
          <a:p>
            <a:r>
              <a:rPr lang="en-US" sz="4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Your Turn to solve ! </a:t>
            </a:r>
            <a:endParaRPr lang="en-US" sz="4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Picture 6" descr="Medi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9215" y="1257935"/>
            <a:ext cx="4453255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Rectangles 283"/>
          <p:cNvSpPr/>
          <p:nvPr/>
        </p:nvSpPr>
        <p:spPr>
          <a:xfrm>
            <a:off x="476280" y="476280"/>
            <a:ext cx="2285640" cy="239966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cs typeface="Times New Roman" panose="02020603050405020304" charset="0"/>
              </a:rPr>
              <a:t>02</a:t>
            </a:r>
            <a:endParaRPr lang="en-US" sz="5000" b="1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5000" b="1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5000" b="1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5" name="Rectangles 284"/>
          <p:cNvSpPr/>
          <p:nvPr/>
        </p:nvSpPr>
        <p:spPr>
          <a:xfrm>
            <a:off x="468025" y="1995895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cs typeface="Times New Roman" panose="02020603050405020304" charset="0"/>
              </a:rPr>
              <a:t>Mapping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86" name="image6990b42e32fd9" descr="image6990b42e32fdf"/>
          <p:cNvPicPr/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895" y="339725"/>
            <a:ext cx="7452995" cy="321310"/>
          </a:xfrm>
        </p:spPr>
        <p:txBody>
          <a:bodyPr/>
          <a:p>
            <a:r>
              <a:rPr lang="en-US" sz="3000">
                <a:latin typeface="Times New Roman" panose="02020603050405020304" charset="0"/>
                <a:cs typeface="Times New Roman" panose="02020603050405020304" charset="0"/>
              </a:rPr>
              <a:t>Steps to Mapping</a:t>
            </a:r>
            <a:endParaRPr lang="en-US" sz="3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-252095" y="1131570"/>
            <a:ext cx="7647305" cy="29667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80000"/>
              </a:lnSpc>
              <a:buFontTx/>
              <a:buNone/>
            </a:pPr>
            <a:r>
              <a:rPr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	</a:t>
            </a: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Step 1: Mapping of Regular Entity Types</a:t>
            </a:r>
            <a:endParaRPr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	Step 2: Mapping of Weak Entity Types</a:t>
            </a:r>
            <a:endParaRPr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	Step 3: Mapping of Binary 1:1 Relation Types</a:t>
            </a:r>
            <a:endParaRPr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	Step 4: Mapping of Binary 1:N Relationship Types.</a:t>
            </a:r>
            <a:endParaRPr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	Step 5: Mapping of Binary M:N Relationship Types.</a:t>
            </a:r>
            <a:endParaRPr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	Step 6: Mapping of N-ary Relationship Types.</a:t>
            </a:r>
            <a:endParaRPr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80000"/>
              </a:lnSpc>
              <a:buNone/>
            </a:pP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	</a:t>
            </a:r>
            <a:endParaRPr lang="en-US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8230" y="444960"/>
            <a:ext cx="4711320" cy="572400"/>
          </a:xfrm>
        </p:spPr>
        <p:txBody>
          <a:bodyPr/>
          <a:p>
            <a:r>
              <a:rPr lang="en-US" sz="3000">
                <a:latin typeface="Times New Roman" panose="02020603050405020304" charset="0"/>
                <a:cs typeface="Times New Roman" panose="02020603050405020304" charset="0"/>
              </a:rPr>
              <a:t>Mapping Regular Entity</a:t>
            </a:r>
            <a:br>
              <a:rPr lang="en-US" sz="3000"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en-US" sz="3000">
                <a:latin typeface="Times New Roman" panose="02020603050405020304" charset="0"/>
                <a:cs typeface="Times New Roman" panose="02020603050405020304" charset="0"/>
              </a:rPr>
            </a:br>
            <a:endParaRPr lang="en-US" sz="3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/>
          </a:p>
        </p:txBody>
      </p:sp>
      <p:pic>
        <p:nvPicPr>
          <p:cNvPr id="17413" name="Picture 9" descr="C:\MyData\MIS\Hoffer6e\Hoffer 6e figures\chapter 05\FIG5-8A.gi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1275715"/>
            <a:ext cx="5172710" cy="194881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14" name="Picture 10" descr="C:\MyData\MIS\Hoffer6e\Hoffer 6e figures\chapter 05\FIG5-8B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0" y="3651250"/>
            <a:ext cx="6858000" cy="8293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Text Box 7"/>
          <p:cNvSpPr txBox="1"/>
          <p:nvPr/>
        </p:nvSpPr>
        <p:spPr>
          <a:xfrm>
            <a:off x="252095" y="1348105"/>
            <a:ext cx="3101975" cy="11239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  <a:cs typeface="Times New Roman" panose="02020603050405020304" charset="0"/>
                <a:sym typeface="+mn-ea"/>
              </a:rPr>
              <a:t>(a) CUSTOMER entity type with simple attributes</a:t>
            </a:r>
            <a:endParaRPr lang="en-US" sz="2000" dirty="0">
              <a:solidFill>
                <a:schemeClr val="tx1"/>
              </a:solidFill>
              <a:latin typeface="Times New Roman" panose="02020603050405020304" charset="0"/>
              <a:ea typeface="MS PGothic" panose="020B0600070205080204" pitchFamily="34" charset="-128"/>
              <a:cs typeface="Times New Roman" panose="02020603050405020304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539750" y="3148330"/>
            <a:ext cx="4572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  <a:cs typeface="Times New Roman" panose="02020603050405020304" charset="0"/>
                <a:sym typeface="+mn-ea"/>
              </a:rPr>
              <a:t>(b) CUSTOMER relation</a:t>
            </a:r>
            <a:endParaRPr lang="en-US" sz="2000" dirty="0">
              <a:solidFill>
                <a:schemeClr val="tx1"/>
              </a:solidFill>
              <a:latin typeface="Times New Roman" panose="02020603050405020304" charset="0"/>
              <a:ea typeface="MS PGothic" panose="020B0600070205080204" pitchFamily="34" charset="-128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105" y="445135"/>
            <a:ext cx="7093585" cy="572135"/>
          </a:xfrm>
        </p:spPr>
        <p:txBody>
          <a:bodyPr/>
          <a:p>
            <a:r>
              <a:rPr lang="en-US" sz="3000">
                <a:latin typeface="Times New Roman" panose="02020603050405020304" charset="0"/>
                <a:cs typeface="Times New Roman" panose="02020603050405020304" charset="0"/>
              </a:rPr>
              <a:t>Mapping Composite Attribute </a:t>
            </a:r>
            <a:endParaRPr lang="en-US" sz="3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/>
          </a:p>
        </p:txBody>
      </p:sp>
      <p:pic>
        <p:nvPicPr>
          <p:cNvPr id="18436" name="Picture 2" descr="D:\McFadden Slides\slide files 6\06_09a.pc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0020" y="1133475"/>
            <a:ext cx="5991225" cy="19424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438" name="Picture 5" descr="D:\McFadden Slides\slide files 6\06_09b.pc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15" y="3546475"/>
            <a:ext cx="7484745" cy="10179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 Box 3"/>
          <p:cNvSpPr txBox="1"/>
          <p:nvPr/>
        </p:nvSpPr>
        <p:spPr>
          <a:xfrm>
            <a:off x="252095" y="1254760"/>
            <a:ext cx="2294255" cy="14592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  <a:cs typeface="Times New Roman" panose="02020603050405020304" charset="0"/>
                <a:sym typeface="+mn-ea"/>
              </a:rPr>
              <a:t>CUSTOMER entity type with composite attribute</a:t>
            </a:r>
            <a:endParaRPr lang="en-US" sz="2000" dirty="0">
              <a:solidFill>
                <a:schemeClr val="tx1"/>
              </a:solidFill>
              <a:latin typeface="Times New Roman" panose="02020603050405020304" charset="0"/>
              <a:ea typeface="MS PGothic" panose="020B0600070205080204" pitchFamily="34" charset="-128"/>
              <a:cs typeface="Times New Roman" panose="0202060305040502030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23850" y="3081020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sz="2400" dirty="0">
                <a:solidFill>
                  <a:srgbClr val="FF33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+mn-ea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  <a:cs typeface="Times New Roman" panose="02020603050405020304" charset="0"/>
                <a:sym typeface="+mn-ea"/>
              </a:rPr>
              <a:t>CUSTOMER relation with address detail</a:t>
            </a:r>
            <a:endParaRPr lang="en-US" sz="2000" dirty="0">
              <a:solidFill>
                <a:schemeClr val="tx1"/>
              </a:solidFill>
              <a:latin typeface="Times New Roman" panose="02020603050405020304" charset="0"/>
              <a:ea typeface="MS PGothic" panose="020B0600070205080204" pitchFamily="34" charset="-128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215" y="342265"/>
            <a:ext cx="6828790" cy="572135"/>
          </a:xfrm>
        </p:spPr>
        <p:txBody>
          <a:bodyPr/>
          <a:p>
            <a:r>
              <a:rPr lang="en-US" sz="3000">
                <a:latin typeface="Times New Roman" panose="02020603050405020304" charset="0"/>
                <a:cs typeface="Times New Roman" panose="02020603050405020304" charset="0"/>
              </a:rPr>
              <a:t>Mapping Multivalued Attribute</a:t>
            </a:r>
            <a:endParaRPr lang="en-US" sz="3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/>
          </a:p>
        </p:txBody>
      </p:sp>
      <p:pic>
        <p:nvPicPr>
          <p:cNvPr id="19459" name="Picture 1039" descr="C:\MyData\MIS\Hoffer6e\Hoffer 6e figures\chapter 05\FIG5-10A.gi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4305" y="1059815"/>
            <a:ext cx="6324600" cy="151066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9461" name="Group 1041"/>
          <p:cNvGrpSpPr/>
          <p:nvPr/>
        </p:nvGrpSpPr>
        <p:grpSpPr>
          <a:xfrm>
            <a:off x="466744" y="2716163"/>
            <a:ext cx="8285480" cy="2011392"/>
            <a:chOff x="-8" y="1686"/>
            <a:chExt cx="5585" cy="1761"/>
          </a:xfrm>
        </p:grpSpPr>
        <p:pic>
          <p:nvPicPr>
            <p:cNvPr id="19463" name="Picture 1040" descr="C:\MyData\MIS\Hoffer6e\Hoffer 6e figures\chapter 05\FIG5-10B.gif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5" y="2016"/>
              <a:ext cx="4128" cy="143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464" name="Text Box 1033"/>
            <p:cNvSpPr txBox="1"/>
            <p:nvPr/>
          </p:nvSpPr>
          <p:spPr>
            <a:xfrm>
              <a:off x="-8" y="1686"/>
              <a:ext cx="5585" cy="34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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Ø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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Ø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 3" panose="05040102010807070707" pitchFamily="18" charset="2"/>
                <a:buChar char="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sz="2000" dirty="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pitchFamily="34" charset="-128"/>
                </a:rPr>
                <a:t>Multivalued attribute becomes a separate relation with foreign key</a:t>
              </a:r>
              <a:endParaRPr sz="2000" dirty="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205" y="339550"/>
            <a:ext cx="4711320" cy="572400"/>
          </a:xfrm>
        </p:spPr>
        <p:txBody>
          <a:bodyPr/>
          <a:p>
            <a:r>
              <a:rPr lang="en-US" sz="3000">
                <a:latin typeface="Times New Roman" panose="02020603050405020304" charset="0"/>
                <a:cs typeface="Times New Roman" panose="02020603050405020304" charset="0"/>
              </a:rPr>
              <a:t>Mapping of Weak Entity</a:t>
            </a:r>
            <a:endParaRPr lang="en-US" sz="3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/>
          </a:p>
        </p:txBody>
      </p:sp>
      <p:pic>
        <p:nvPicPr>
          <p:cNvPr id="22533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" y="1017270"/>
            <a:ext cx="8105775" cy="143637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3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05" y="2715895"/>
            <a:ext cx="8156575" cy="1644650"/>
          </a:xfrm>
          <a:prstGeom prst="rect">
            <a:avLst/>
          </a:prstGeom>
          <a:noFill/>
          <a:ln w="28575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323850" y="1491615"/>
            <a:ext cx="832929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400" dirty="0">
                <a:solidFill>
                  <a:schemeClr val="accent3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 the most cases Derived attribute not be stored in DB</a:t>
            </a:r>
            <a:endParaRPr sz="2400" dirty="0">
              <a:solidFill>
                <a:schemeClr val="accent3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sz="2400" dirty="0">
              <a:solidFill>
                <a:schemeClr val="accent3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sz="2400" dirty="0">
              <a:solidFill>
                <a:schemeClr val="accent3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400" dirty="0">
                <a:solidFill>
                  <a:schemeClr val="accent3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Mapping Complex Like Mapping Multivalued attribute then including parts of the multivalued attributes as columns in DB</a:t>
            </a:r>
            <a:endParaRPr lang="en-US" sz="2400" dirty="0">
              <a:solidFill>
                <a:schemeClr val="accent3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135" y="445135"/>
            <a:ext cx="9063990" cy="572135"/>
          </a:xfrm>
        </p:spPr>
        <p:txBody>
          <a:bodyPr/>
          <a:p>
            <a:r>
              <a:rPr lang="en-US" sz="3000">
                <a:latin typeface="Times New Roman" panose="02020603050405020304" charset="0"/>
                <a:cs typeface="Times New Roman" panose="02020603050405020304" charset="0"/>
              </a:rPr>
              <a:t>Mapping 1:1 both Total Participation(Mandatory)</a:t>
            </a:r>
            <a:endParaRPr lang="en-US" sz="3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040" y="1348105"/>
            <a:ext cx="7477125" cy="1527810"/>
          </a:xfrm>
          <a:prstGeom prst="rect">
            <a:avLst/>
          </a:prstGeom>
        </p:spPr>
      </p:pic>
      <p:sp>
        <p:nvSpPr>
          <p:cNvPr id="49" name="Rectangle 98"/>
          <p:cNvSpPr txBox="1">
            <a:spLocks noChangeArrowheads="1"/>
          </p:cNvSpPr>
          <p:nvPr/>
        </p:nvSpPr>
        <p:spPr bwMode="auto">
          <a:xfrm>
            <a:off x="2614295" y="3364230"/>
            <a:ext cx="4018280" cy="10826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Char char="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Char char="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Char char="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None/>
              <a:defRPr/>
            </a:pP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Emp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8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Ename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Cname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Char char=""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None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105" y="445135"/>
            <a:ext cx="7510780" cy="572135"/>
          </a:xfrm>
        </p:spPr>
        <p:txBody>
          <a:bodyPr/>
          <a:p>
            <a:r>
              <a:rPr lang="en-US" sz="3000">
                <a:latin typeface="Times New Roman" panose="02020603050405020304" charset="0"/>
                <a:cs typeface="Times New Roman" panose="02020603050405020304" charset="0"/>
              </a:rPr>
              <a:t>Mapping Partial - Total (optional,mandatory)</a:t>
            </a:r>
            <a:endParaRPr lang="en-US" sz="3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985" y="1491615"/>
            <a:ext cx="5676900" cy="1371600"/>
          </a:xfrm>
          <a:prstGeom prst="rect">
            <a:avLst/>
          </a:prstGeom>
        </p:spPr>
      </p:pic>
      <p:sp>
        <p:nvSpPr>
          <p:cNvPr id="49" name="Rectangle 98"/>
          <p:cNvSpPr txBox="1">
            <a:spLocks noChangeArrowheads="1"/>
          </p:cNvSpPr>
          <p:nvPr/>
        </p:nvSpPr>
        <p:spPr bwMode="auto">
          <a:xfrm>
            <a:off x="2555875" y="3148330"/>
            <a:ext cx="3615690" cy="130873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Char char="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Char char="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Char char="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Employee(</a:t>
            </a:r>
            <a:r>
              <a:rPr kumimoji="0" lang="en-US" sz="18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Ename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Computer(</a:t>
            </a: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en-US" sz="18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Cname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ID_FK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None/>
              <a:defRPr/>
            </a:pP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-36830" y="4516120"/>
            <a:ext cx="4946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partial increase , tables increase</a:t>
            </a:r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105" y="445135"/>
            <a:ext cx="7366000" cy="572135"/>
          </a:xfrm>
        </p:spPr>
        <p:txBody>
          <a:bodyPr/>
          <a:p>
            <a:r>
              <a:rPr lang="en-US" sz="3000">
                <a:latin typeface="Times New Roman" panose="02020603050405020304" charset="0"/>
                <a:cs typeface="Times New Roman" panose="02020603050405020304" charset="0"/>
              </a:rPr>
              <a:t>Mapping 1:1 both Participation (optional)</a:t>
            </a:r>
            <a:endParaRPr lang="en-US" sz="3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8945" y="1348105"/>
            <a:ext cx="5705475" cy="1352550"/>
          </a:xfrm>
          <a:prstGeom prst="rect">
            <a:avLst/>
          </a:prstGeom>
        </p:spPr>
      </p:pic>
      <p:sp>
        <p:nvSpPr>
          <p:cNvPr id="49" name="Rectangle 98"/>
          <p:cNvSpPr txBox="1">
            <a:spLocks noChangeArrowheads="1"/>
          </p:cNvSpPr>
          <p:nvPr/>
        </p:nvSpPr>
        <p:spPr bwMode="auto">
          <a:xfrm>
            <a:off x="2628265" y="2931795"/>
            <a:ext cx="3720465" cy="17176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Char char="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Char char="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Char char="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Employee(</a:t>
            </a:r>
            <a:r>
              <a:rPr kumimoji="0" lang="en-US" sz="18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Ename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Car(</a:t>
            </a:r>
            <a:r>
              <a:rPr kumimoji="0" lang="en-US" sz="18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CType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None/>
              <a:defRPr/>
            </a:pP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Emp_Car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8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CID_FK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None/>
              <a:defRPr/>
            </a:pP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None/>
              <a:defRPr/>
            </a:pP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105" y="445135"/>
            <a:ext cx="7317740" cy="572135"/>
          </a:xfrm>
        </p:spPr>
        <p:txBody>
          <a:bodyPr/>
          <a:p>
            <a:r>
              <a:rPr lang="en-US" sz="3000">
                <a:latin typeface="Times New Roman" panose="02020603050405020304" charset="0"/>
                <a:cs typeface="Times New Roman" panose="02020603050405020304" charset="0"/>
              </a:rPr>
              <a:t>Mapping 1:M  Many is Total (Mandatory)</a:t>
            </a:r>
            <a:endParaRPr lang="en-US" sz="3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885" y="1419860"/>
            <a:ext cx="5724525" cy="1314450"/>
          </a:xfrm>
          <a:prstGeom prst="rect">
            <a:avLst/>
          </a:prstGeom>
        </p:spPr>
      </p:pic>
      <p:sp>
        <p:nvSpPr>
          <p:cNvPr id="49" name="Rectangle 98"/>
          <p:cNvSpPr txBox="1">
            <a:spLocks noChangeArrowheads="1"/>
          </p:cNvSpPr>
          <p:nvPr/>
        </p:nvSpPr>
        <p:spPr bwMode="auto">
          <a:xfrm>
            <a:off x="3131820" y="3075940"/>
            <a:ext cx="3615690" cy="14700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Char char="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Char char="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Char char="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Department(</a:t>
            </a:r>
            <a:r>
              <a:rPr kumimoji="0" lang="en-US" sz="18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Dname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Employee(</a:t>
            </a:r>
            <a:r>
              <a:rPr kumimoji="0" lang="en-US" sz="18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Ename,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None/>
              <a:defRPr/>
            </a:pP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0030" y="355425"/>
            <a:ext cx="4711320" cy="572400"/>
          </a:xfrm>
        </p:spPr>
        <p:txBody>
          <a:bodyPr/>
          <a:p>
            <a:r>
              <a:rPr lang="en-US" sz="3000">
                <a:latin typeface="Times New Roman" panose="02020603050405020304" charset="0"/>
                <a:cs typeface="Times New Roman" panose="02020603050405020304" charset="0"/>
              </a:rPr>
              <a:t>Many is Partial (optional)</a:t>
            </a:r>
            <a:endParaRPr lang="en-US" sz="3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8175" y="1131570"/>
            <a:ext cx="5648325" cy="1333500"/>
          </a:xfrm>
          <a:prstGeom prst="rect">
            <a:avLst/>
          </a:prstGeom>
        </p:spPr>
      </p:pic>
      <p:sp>
        <p:nvSpPr>
          <p:cNvPr id="49" name="Rectangle 98"/>
          <p:cNvSpPr txBox="1">
            <a:spLocks noChangeArrowheads="1"/>
          </p:cNvSpPr>
          <p:nvPr/>
        </p:nvSpPr>
        <p:spPr bwMode="auto">
          <a:xfrm>
            <a:off x="3275965" y="2644140"/>
            <a:ext cx="3615690" cy="17589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Char char="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Char char="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Char char="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Project(</a:t>
            </a:r>
            <a:r>
              <a:rPr kumimoji="0" lang="en-US" sz="18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Pname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Employee(</a:t>
            </a:r>
            <a:r>
              <a:rPr kumimoji="0" lang="en-US" sz="18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Ename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None/>
              <a:defRPr/>
            </a:pP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Proj_Emp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8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PID_FK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None/>
              <a:defRPr/>
            </a:pP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105" y="445135"/>
            <a:ext cx="7446010" cy="572135"/>
          </a:xfrm>
        </p:spPr>
        <p:txBody>
          <a:bodyPr/>
          <a:p>
            <a:r>
              <a:rPr lang="en-US" sz="3000">
                <a:latin typeface="Times New Roman" panose="02020603050405020304" charset="0"/>
                <a:cs typeface="Times New Roman" panose="02020603050405020304" charset="0"/>
              </a:rPr>
              <a:t>Mapping M:M Relationship Types</a:t>
            </a:r>
            <a:endParaRPr lang="en-US" sz="3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467360" y="1995805"/>
            <a:ext cx="8354695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AutoNum type="arabicPeriod"/>
            </a:pPr>
            <a:r>
              <a:rPr sz="25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Create a new third  table</a:t>
            </a:r>
            <a:endParaRPr sz="2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AutoNum type="arabicPeriod"/>
            </a:pPr>
            <a:r>
              <a:rPr sz="25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Add FKs to the new table for both parent tables</a:t>
            </a:r>
            <a:r>
              <a:rPr lang="en-US" sz="25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then </a:t>
            </a:r>
            <a:r>
              <a:rPr lang="en-US" sz="25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third table will have composite PK</a:t>
            </a:r>
            <a:endParaRPr sz="2500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AutoNum type="arabicPeriod"/>
            </a:pPr>
            <a:r>
              <a:rPr sz="25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Add simple attributes of relationship to the new table if any .</a:t>
            </a:r>
            <a:endParaRPr lang="en-US" sz="25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885" y="915670"/>
            <a:ext cx="5838825" cy="1352550"/>
          </a:xfrm>
          <a:prstGeom prst="rect">
            <a:avLst/>
          </a:prstGeom>
        </p:spPr>
      </p:pic>
      <p:sp>
        <p:nvSpPr>
          <p:cNvPr id="49" name="Rectangle 98"/>
          <p:cNvSpPr txBox="1">
            <a:spLocks noChangeArrowheads="1"/>
          </p:cNvSpPr>
          <p:nvPr/>
        </p:nvSpPr>
        <p:spPr bwMode="auto">
          <a:xfrm>
            <a:off x="3131820" y="2499995"/>
            <a:ext cx="3615690" cy="169608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Char char="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Char char="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Char char="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Student(</a:t>
            </a: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sz="18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name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Course(</a:t>
            </a: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en-US" sz="1800" b="0" i="0" u="sng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Cname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3" panose="05040102010807070707" pitchFamily="18" charset="2"/>
              <a:buNone/>
              <a:defRPr/>
            </a:pP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Stud_Course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8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SID, CID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7675" y="411480"/>
            <a:ext cx="3521075" cy="572135"/>
          </a:xfrm>
        </p:spPr>
        <p:txBody>
          <a:bodyPr/>
          <a:p>
            <a:r>
              <a:rPr lang="en-US" sz="3000">
                <a:latin typeface="Times New Roman" panose="02020603050405020304" charset="0"/>
                <a:cs typeface="Times New Roman" panose="02020603050405020304" charset="0"/>
              </a:rPr>
              <a:t>M:M with Attribute</a:t>
            </a:r>
            <a:endParaRPr lang="en-US" sz="3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/>
          </a:p>
        </p:txBody>
      </p:sp>
      <p:pic>
        <p:nvPicPr>
          <p:cNvPr id="32771" name="Picture 1033" descr="C:\MyData\MIS\Hoffer6e\Hoffer 6e figures\chapter 05\FIG5-13A.gi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215" y="1131570"/>
            <a:ext cx="8686800" cy="14833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773" name="Picture 14" descr="C:\MyData\MIS\Hoffer6e\Hoffer 6e figures\chapter 05\FIG5-13B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05" y="2571750"/>
            <a:ext cx="8682355" cy="2257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395" y="445135"/>
            <a:ext cx="7733665" cy="572135"/>
          </a:xfrm>
        </p:spPr>
        <p:txBody>
          <a:bodyPr/>
          <a:p>
            <a:r>
              <a:rPr lang="en-US" sz="3000">
                <a:latin typeface="Times New Roman" panose="02020603050405020304" charset="0"/>
                <a:cs typeface="Times New Roman" panose="02020603050405020304" charset="0"/>
              </a:rPr>
              <a:t>Mapping Ternary Relationship</a:t>
            </a:r>
            <a:endParaRPr lang="en-US" sz="3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/>
          </a:p>
        </p:txBody>
      </p:sp>
      <p:pic>
        <p:nvPicPr>
          <p:cNvPr id="34819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940" y="1167130"/>
            <a:ext cx="6972300" cy="35890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/>
          </a:p>
        </p:txBody>
      </p:sp>
      <p:pic>
        <p:nvPicPr>
          <p:cNvPr id="35843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095" y="411480"/>
            <a:ext cx="8470265" cy="42081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8230" y="339550"/>
            <a:ext cx="4711320" cy="572400"/>
          </a:xfrm>
        </p:spPr>
        <p:txBody>
          <a:bodyPr/>
          <a:p>
            <a:r>
              <a:rPr lang="en-US" sz="3000">
                <a:latin typeface="Times New Roman" panose="02020603050405020304" charset="0"/>
                <a:cs typeface="Times New Roman" panose="02020603050405020304" charset="0"/>
              </a:rPr>
              <a:t>Mapping Unary Relationship</a:t>
            </a:r>
            <a:endParaRPr lang="en-US" sz="3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/>
          </a:p>
        </p:txBody>
      </p:sp>
      <p:pic>
        <p:nvPicPr>
          <p:cNvPr id="3687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740" y="1047750"/>
            <a:ext cx="6944360" cy="22440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867" name="Picture 9" descr="C:\MyData\MIS\Hoffer6e\Hoffer 6e figures\chapter 05\FIG5-17B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360" y="3291840"/>
            <a:ext cx="6936740" cy="14331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828040" y="1491615"/>
            <a:ext cx="783336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000">
                <a:latin typeface="Times New Roman" panose="02020603050405020304" charset="0"/>
                <a:cs typeface="Times New Roman" panose="02020603050405020304" charset="0"/>
              </a:rPr>
              <a:t>Cases of composite primary key(weak entity,multy valued,complex,M:M),</a:t>
            </a:r>
            <a:r>
              <a:rPr lang="en-US" altLang="en-US" sz="30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if attribute on realationship put it in table have 2 keys (pk,fk)</a:t>
            </a:r>
            <a:endParaRPr lang="en-US" altLang="en-US" sz="30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2828880" y="622340"/>
            <a:ext cx="3476160" cy="1259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70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Vidaloka"/>
                <a:cs typeface="Times New Roman" panose="02020603050405020304" charset="0"/>
              </a:rPr>
              <a:t>Thanks</a:t>
            </a:r>
            <a:endParaRPr lang="en-GB" sz="7000" b="0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ea typeface="Vidaloka"/>
              <a:cs typeface="Times New Roman" panose="02020603050405020304" charset="0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 type="subTitle"/>
          </p:nvPr>
        </p:nvSpPr>
        <p:spPr>
          <a:xfrm>
            <a:off x="2981160" y="1752480"/>
            <a:ext cx="3180960" cy="39814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3" name="Picture 12" descr="WhatsApp Image 2026-02-14 at 7.55.54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985" y="-39370"/>
            <a:ext cx="9448165" cy="51835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5661</Words>
  <Application>WPS Presentation</Application>
  <PresentationFormat/>
  <Paragraphs>276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40</vt:i4>
      </vt:variant>
    </vt:vector>
  </HeadingPairs>
  <TitlesOfParts>
    <vt:vector size="62" baseType="lpstr">
      <vt:lpstr>Arial</vt:lpstr>
      <vt:lpstr>SimSun</vt:lpstr>
      <vt:lpstr>Wingdings</vt:lpstr>
      <vt:lpstr>Arial</vt:lpstr>
      <vt:lpstr>Symbol</vt:lpstr>
      <vt:lpstr>Vidaloka</vt:lpstr>
      <vt:lpstr>Egyptian Nights</vt:lpstr>
      <vt:lpstr>Montserrat</vt:lpstr>
      <vt:lpstr>OpenSymbol</vt:lpstr>
      <vt:lpstr>Times New Roman</vt:lpstr>
      <vt:lpstr>Noto Serif KR Extra</vt:lpstr>
      <vt:lpstr>Noto Serif KR</vt:lpstr>
      <vt:lpstr>Inter Semi</vt:lpstr>
      <vt:lpstr>Wingdings 3</vt:lpstr>
      <vt:lpstr>MS PGothic</vt:lpstr>
      <vt:lpstr>Microsoft YaHei</vt:lpstr>
      <vt:lpstr>Arial Unicode MS</vt:lpstr>
      <vt:lpstr>Calibri</vt:lpstr>
      <vt:lpstr>Book Antiqua</vt:lpstr>
      <vt:lpstr>Minimalist Business Slides XL by Slidesgo</vt:lpstr>
      <vt:lpstr>Slidesgo Final Pages</vt:lpstr>
      <vt:lpstr>Slidesgo Final Pages</vt:lpstr>
      <vt:lpstr>PowerPoint 演示文稿</vt:lpstr>
      <vt:lpstr>PowerPoint 演示文稿</vt:lpstr>
      <vt:lpstr>ERD &amp; Schema</vt:lpstr>
      <vt:lpstr>PowerPoint 演示文稿</vt:lpstr>
      <vt:lpstr>PowerPoint 演示文稿</vt:lpstr>
      <vt:lpstr>ERD ex:</vt:lpstr>
      <vt:lpstr>Strong Entity vs Weak Entity</vt:lpstr>
      <vt:lpstr>Types of Attributes  Simple Attribute-&gt;SSN,Age,Gender,.......  Composite Attribute -&gt;Name(L_name,F_name), DOB(mm,dd,yy)  Multi-valued Attribute -&gt; Phone Number , Address  Derived Attribute -&gt; Age (you can calculate it from DOB)  Complex Attribute -&gt; Multi-valued + Composite  ex:Address  </vt:lpstr>
      <vt:lpstr>Relationship</vt:lpstr>
      <vt:lpstr>Degree of Participation </vt:lpstr>
      <vt:lpstr>Cardinality  </vt:lpstr>
      <vt:lpstr>Participation</vt:lpstr>
      <vt:lpstr>Participation</vt:lpstr>
      <vt:lpstr>PowerPoint 演示文稿</vt:lpstr>
      <vt:lpstr>Keys</vt:lpstr>
      <vt:lpstr>Schema</vt:lpstr>
      <vt:lpstr>Practical Problem</vt:lpstr>
      <vt:lpstr>PowerPoint 演示文稿</vt:lpstr>
      <vt:lpstr>Steps to Design ERD  </vt:lpstr>
      <vt:lpstr>Your Turn to solve ! </vt:lpstr>
      <vt:lpstr>PowerPoint 演示文稿</vt:lpstr>
      <vt:lpstr>Steps to Mapping</vt:lpstr>
      <vt:lpstr>Mapping Regular Entity  </vt:lpstr>
      <vt:lpstr>Mapping Composite Attribute </vt:lpstr>
      <vt:lpstr>Mapping Multivalued Attribute</vt:lpstr>
      <vt:lpstr>Mapping of Weak Entity</vt:lpstr>
      <vt:lpstr>PowerPoint 演示文稿</vt:lpstr>
      <vt:lpstr>Mapping 1:1 both Total Participation(Mandatory)</vt:lpstr>
      <vt:lpstr>Mapping Partial - Total (optional,mandatory)</vt:lpstr>
      <vt:lpstr>Mapping 1:1 both Participation (optional)</vt:lpstr>
      <vt:lpstr>Mapping 1:M  Many is Total (Mandatory)</vt:lpstr>
      <vt:lpstr>Many is Partial (optional)</vt:lpstr>
      <vt:lpstr>Mapping M:M Relationship Types</vt:lpstr>
      <vt:lpstr>PowerPoint 演示文稿</vt:lpstr>
      <vt:lpstr>M:M with Attribute</vt:lpstr>
      <vt:lpstr>Mapping Ternary Relationship</vt:lpstr>
      <vt:lpstr>PowerPoint 演示文稿</vt:lpstr>
      <vt:lpstr>Mapping Unary Relationship</vt:lpstr>
      <vt:lpstr>PowerPoint 演示文稿</vt:lpstr>
      <vt:lpstr>Thanks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ERD &amp; Schema</dc:title>
  <dc:creator/>
  <cp:lastModifiedBy>Fatma EL_zahraa</cp:lastModifiedBy>
  <cp:revision>21</cp:revision>
  <dcterms:created xsi:type="dcterms:W3CDTF">2026-02-14T17:57:00Z</dcterms:created>
  <dcterms:modified xsi:type="dcterms:W3CDTF">2026-02-24T21:36:25Z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  <property fmtid="{D5CDD505-2E9C-101B-9397-08002B2CF9AE}" pid="3" name="ICV">
    <vt:lpwstr>BB107C6D0A414FCE9072948F97B83F20_12</vt:lpwstr>
  </property>
  <property fmtid="{D5CDD505-2E9C-101B-9397-08002B2CF9AE}" pid="4" name="KSOProductBuildVer">
    <vt:lpwstr>1033-12.2.0.23196</vt:lpwstr>
  </property>
</Properties>
</file>